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s/slide5.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viewProps.xml" ContentType="application/vnd.openxmlformats-officedocument.presentationml.viewProps+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docProps/app.xml" ContentType="application/vnd.openxmlformats-officedocument.extended-properties+xml"/>
  <Override PartName="/ppt/slides/slide6.xml" ContentType="application/vnd.openxmlformats-officedocument.presentationml.slide+xml"/>
  <Override PartName="/ppt/theme/theme1.xml" ContentType="application/vnd.openxmlformats-officedocument.theme+xml"/>
  <Override PartName="/ppt/notesSlides/notesSlide6.xml" ContentType="application/vnd.openxmlformats-officedocument.presentationml.notesSlide+xml"/>
  <Override PartName="/ppt/notesMasters/notesMaster1.xml" ContentType="application/vnd.openxmlformats-officedocument.presentationml.notesMaster+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docProps/core.xml" ContentType="application/vnd.openxmlformats-package.core-properties+xml"/>
  <Override PartName="/ppt/slideMasters/slideMaster1.xml" ContentType="application/vnd.openxmlformats-officedocument.presentationml.slideMaster+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9"/>
  </p:notesMasterIdLst>
  <p:sldIdLst>
    <p:sldId id="256" r:id="rId3"/>
    <p:sldId id="257" r:id="rId4"/>
    <p:sldId id="258" r:id="rId5"/>
    <p:sldId id="259" r:id="rId6"/>
    <p:sldId id="260" r:id="rId7"/>
    <p:sldId id="261" r:id="rId8"/>
  </p:sldIdLst>
  <p:sldSz cx="12192000" cy="6858000"/>
  <p:notesSz cx="6858000" cy="12192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 /><Relationship Id="rId11" Type="http://schemas.openxmlformats.org/officeDocument/2006/relationships/tableStyles" Target="tableStyles.xml" /><Relationship Id="rId12"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47454175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641200246"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1091272562"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71778652"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59355535"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392382471"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85116567" name="Slide Image Placeholder 1"/>
          <p:cNvSpPr>
            <a:spLocks noChangeAspect="1" noGrp="1" noRot="1"/>
          </p:cNvSpPr>
          <p:nvPr>
            <p:ph type="sldImg"/>
          </p:nvPr>
        </p:nvSpPr>
        <p:spPr bwMode="auto"/>
      </p:sp>
      <p:sp>
        <p:nvSpPr>
          <p:cNvPr id="1070458748" name="Notes Placeholder 2"/>
          <p:cNvSpPr>
            <a:spLocks noGrp="1"/>
          </p:cNvSpPr>
          <p:nvPr>
            <p:ph type="body" idx="1"/>
          </p:nvPr>
        </p:nvSpPr>
        <p:spPr bwMode="auto"/>
        <p:txBody>
          <a:bodyPr/>
          <a:lstStyle/>
          <a:p>
            <a:pPr>
              <a:defRPr/>
            </a:pPr>
            <a:r>
              <a:rPr lang="en-US"/>
              <a:t>12 seconds. Every day, 25 million litres of water collects in the old coal mines beneath eMalahleni. Ten Olympic swimming pools. When it leaves a mine, nobody tests it. That's how Kromdraai killed 112 kilometres of river in 2022. Detail slides are at the back if judges ask.</a:t>
            </a:r>
            <a:endParaRPr lang="en-US"/>
          </a:p>
        </p:txBody>
      </p:sp>
      <p:sp>
        <p:nvSpPr>
          <p:cNvPr id="1258650494"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53366265" name="Slide Image Placeholder 1"/>
          <p:cNvSpPr>
            <a:spLocks noChangeAspect="1" noGrp="1" noRot="1"/>
          </p:cNvSpPr>
          <p:nvPr>
            <p:ph type="sldImg"/>
          </p:nvPr>
        </p:nvSpPr>
        <p:spPr bwMode="auto"/>
      </p:sp>
      <p:sp>
        <p:nvSpPr>
          <p:cNvPr id="1215263255" name="Notes Placeholder 2"/>
          <p:cNvSpPr>
            <a:spLocks noGrp="1"/>
          </p:cNvSpPr>
          <p:nvPr>
            <p:ph type="body" idx="1"/>
          </p:nvPr>
        </p:nvSpPr>
        <p:spPr bwMode="auto"/>
        <p:txBody>
          <a:bodyPr/>
          <a:lstStyle/>
          <a:p>
            <a:pPr>
              <a:defRPr/>
            </a:pPr>
            <a:r>
              <a:rPr lang="en-US"/>
              <a:t>12 seconds. Ask the question, pause one second, then the line. Slightly louder on the product name.</a:t>
            </a:r>
            <a:endParaRPr lang="en-US"/>
          </a:p>
        </p:txBody>
      </p:sp>
      <p:sp>
        <p:nvSpPr>
          <p:cNvPr id="1233069353"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36545502" name="Slide Image Placeholder 1"/>
          <p:cNvSpPr>
            <a:spLocks noChangeAspect="1" noGrp="1" noRot="1"/>
          </p:cNvSpPr>
          <p:nvPr>
            <p:ph type="sldImg"/>
          </p:nvPr>
        </p:nvSpPr>
        <p:spPr bwMode="auto"/>
      </p:sp>
      <p:sp>
        <p:nvSpPr>
          <p:cNvPr id="838221641" name="Notes Placeholder 2"/>
          <p:cNvSpPr>
            <a:spLocks noGrp="1"/>
          </p:cNvSpPr>
          <p:nvPr>
            <p:ph type="body" idx="1"/>
          </p:nvPr>
        </p:nvSpPr>
        <p:spPr bwMode="auto"/>
        <p:txBody>
          <a:bodyPr/>
          <a:lstStyle/>
          <a:p>
            <a:pPr>
              <a:defRPr/>
            </a:pPr>
            <a:r>
              <a:rPr lang="en-US"/>
              <a:t>15 seconds. A low-cost gate at the dam outlet. It tests every batch, releases only clean water, holds back and treats the rest. No test, no release.</a:t>
            </a:r>
            <a:endParaRPr lang="en-US"/>
          </a:p>
        </p:txBody>
      </p:sp>
      <p:sp>
        <p:nvSpPr>
          <p:cNvPr id="477392944"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15182750" name="Slide Image Placeholder 1"/>
          <p:cNvSpPr>
            <a:spLocks noChangeAspect="1" noGrp="1" noRot="1"/>
          </p:cNvSpPr>
          <p:nvPr>
            <p:ph type="sldImg"/>
          </p:nvPr>
        </p:nvSpPr>
        <p:spPr bwMode="auto"/>
      </p:sp>
      <p:sp>
        <p:nvSpPr>
          <p:cNvPr id="465948401" name="Notes Placeholder 2"/>
          <p:cNvSpPr>
            <a:spLocks noGrp="1"/>
          </p:cNvSpPr>
          <p:nvPr>
            <p:ph type="body" idx="1"/>
          </p:nvPr>
        </p:nvSpPr>
        <p:spPr bwMode="auto"/>
        <p:txBody>
          <a:bodyPr/>
          <a:lstStyle/>
          <a:p>
            <a:pPr>
              <a:defRPr/>
            </a:pPr>
            <a:r>
              <a:rPr lang="en-US"/>
              <a:t>70 seconds, and this is the heart of the pitch. Point at the rig. This is our mine dam. The probe measures conductivity, because acid and dissolved metals make water conduct electricity far more than clean water. It reads clean, so the valve is open to the river. Pour the contaminated water while talking. The reading drops. Three readings in a row are needed before it acts, so a splash can't trigger it. The valve swings, water goes to the treatment tank, LED and buzzer on. Add clean water: three good readings and it returns to the river by itself. Everything decided on the board. No internet, no cloud, no operator. If the demo fails: show the Serial Monitor readings and the recording from this morning.</a:t>
            </a:r>
            <a:endParaRPr lang="en-US"/>
          </a:p>
        </p:txBody>
      </p:sp>
      <p:sp>
        <p:nvSpPr>
          <p:cNvPr id="1809921024"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52711863" name="Slide Image Placeholder 1"/>
          <p:cNvSpPr>
            <a:spLocks noChangeAspect="1" noGrp="1" noRot="1"/>
          </p:cNvSpPr>
          <p:nvPr>
            <p:ph type="sldImg"/>
          </p:nvPr>
        </p:nvSpPr>
        <p:spPr bwMode="auto"/>
      </p:sp>
      <p:sp>
        <p:nvSpPr>
          <p:cNvPr id="1232845380" name="Notes Placeholder 2"/>
          <p:cNvSpPr>
            <a:spLocks noGrp="1"/>
          </p:cNvSpPr>
          <p:nvPr>
            <p:ph type="body" idx="1"/>
          </p:nvPr>
        </p:nvSpPr>
        <p:spPr bwMode="auto"/>
        <p:txBody>
          <a:bodyPr/>
          <a:lstStyle/>
          <a:p>
            <a:pPr>
              <a:defRPr/>
            </a:pPr>
            <a:r>
              <a:rPr lang="en-US"/>
              <a:t>20 seconds. One node about R21,000, a plant R300 million, the Kromdraai clean-up a billion. Mines buy it for compliance, municipalities for early warning. Hardware once, monitoring monthly.</a:t>
            </a:r>
            <a:endParaRPr lang="en-US"/>
          </a:p>
        </p:txBody>
      </p:sp>
      <p:sp>
        <p:nvSpPr>
          <p:cNvPr id="1771348852"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95326582" name="Slide Image Placeholder 1"/>
          <p:cNvSpPr>
            <a:spLocks noChangeAspect="1" noGrp="1" noRot="1"/>
          </p:cNvSpPr>
          <p:nvPr>
            <p:ph type="sldImg"/>
          </p:nvPr>
        </p:nvSpPr>
        <p:spPr bwMode="auto"/>
      </p:sp>
      <p:sp>
        <p:nvSpPr>
          <p:cNvPr id="2114274648" name="Notes Placeholder 2"/>
          <p:cNvSpPr>
            <a:spLocks noGrp="1"/>
          </p:cNvSpPr>
          <p:nvPr>
            <p:ph type="body" idx="1"/>
          </p:nvPr>
        </p:nvSpPr>
        <p:spPr bwMode="auto"/>
        <p:txBody>
          <a:bodyPr/>
          <a:lstStyle/>
          <a:p>
            <a:pPr>
              <a:defRPr/>
            </a:pPr>
            <a:r>
              <a:rPr lang="en-US"/>
              <a:t>20 seconds. One node about R21,000, a plant R300 million, the Kromdraai clean-up a billion. Mines buy it for compliance, municipalities for early warning. Hardware once, monitoring monthly.</a:t>
            </a:r>
            <a:endParaRPr lang="en-US"/>
          </a:p>
        </p:txBody>
      </p:sp>
      <p:sp>
        <p:nvSpPr>
          <p:cNvPr id="500899110" name="Slide Number Placeholder 3"/>
          <p:cNvSpPr>
            <a:spLocks noGrp="1"/>
          </p:cNvSpPr>
          <p:nvPr>
            <p:ph type="sldNum" sz="quarter" idx="10"/>
          </p:nvPr>
        </p:nvSpPr>
        <p:spPr bwMode="auto"/>
        <p:txBody>
          <a:bodyPr/>
          <a:lstStyle/>
          <a:p>
            <a:pPr>
              <a:defRPr/>
            </a:pPr>
            <a:fld id="{D5BFED3E-E10C-A757-19B4-C0A2B1757078}" type="slidenum">
              <a:rPr lang="en-US"/>
              <a:t>5</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jp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jpg"/><Relationship Id="rId4" Type="http://schemas.openxmlformats.org/officeDocument/2006/relationships/image" Target="../media/image6.jp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0B2545"/>
        </a:solidFill>
      </p:bgPr>
    </p:bg>
    <p:spTree>
      <p:nvGrpSpPr>
        <p:cNvPr id="1" name=""/>
        <p:cNvGrpSpPr/>
        <p:nvPr/>
      </p:nvGrpSpPr>
      <p:grpSpPr bwMode="auto">
        <a:xfrm>
          <a:off x="0" y="0"/>
          <a:ext cx="0" cy="0"/>
          <a:chOff x="0" y="0"/>
          <a:chExt cx="0" cy="0"/>
        </a:xfrm>
      </p:grpSpPr>
      <p:pic>
        <p:nvPicPr>
          <p:cNvPr id="1471690334" name="Image 0" descr="/mnt/user-data/outputs/deckassets/deadfish.jpg"/>
          <p:cNvPicPr>
            <a:picLocks noChangeAspect="1"/>
          </p:cNvPicPr>
          <p:nvPr/>
        </p:nvPicPr>
        <p:blipFill rotWithShape="1">
          <a:blip r:embed="rId3"/>
          <a:srcRect l="0" t="0" r="0" b="0"/>
          <a:stretch/>
        </p:blipFill>
        <p:spPr bwMode="auto">
          <a:xfrm>
            <a:off x="0" y="0"/>
            <a:ext cx="12191695" cy="6858000"/>
          </a:xfrm>
          <a:prstGeom prst="rect">
            <a:avLst/>
          </a:prstGeom>
        </p:spPr>
      </p:pic>
      <p:sp>
        <p:nvSpPr>
          <p:cNvPr id="588459007" name="Shape 0"/>
          <p:cNvSpPr/>
          <p:nvPr/>
        </p:nvSpPr>
        <p:spPr bwMode="auto">
          <a:xfrm>
            <a:off x="0" y="0"/>
            <a:ext cx="12191695" cy="6858000"/>
          </a:xfrm>
          <a:prstGeom prst="rect">
            <a:avLst/>
          </a:prstGeom>
          <a:solidFill>
            <a:srgbClr val="0B2545">
              <a:alpha val="45000"/>
            </a:srgbClr>
          </a:solidFill>
          <a:ln w="12700">
            <a:solidFill>
              <a:srgbClr val="0B2545"/>
            </a:solidFill>
            <a:prstDash val="solid"/>
          </a:ln>
        </p:spPr>
      </p:sp>
      <p:sp>
        <p:nvSpPr>
          <p:cNvPr id="446639746" name="Shape 1"/>
          <p:cNvSpPr/>
          <p:nvPr/>
        </p:nvSpPr>
        <p:spPr bwMode="auto">
          <a:xfrm>
            <a:off x="0" y="0"/>
            <a:ext cx="7315200" cy="6858000"/>
          </a:xfrm>
          <a:prstGeom prst="rect">
            <a:avLst/>
          </a:prstGeom>
          <a:solidFill>
            <a:srgbClr val="0B2545">
              <a:alpha val="92000"/>
            </a:srgbClr>
          </a:solidFill>
          <a:ln w="12700">
            <a:solidFill>
              <a:srgbClr val="0B2545"/>
            </a:solidFill>
            <a:prstDash val="solid"/>
          </a:ln>
        </p:spPr>
      </p:sp>
      <p:sp>
        <p:nvSpPr>
          <p:cNvPr id="870557619" name="Text 2"/>
          <p:cNvSpPr txBox="1"/>
          <p:nvPr/>
        </p:nvSpPr>
        <p:spPr bwMode="auto">
          <a:xfrm>
            <a:off x="548640" y="1371600"/>
            <a:ext cx="5486400" cy="320040"/>
          </a:xfrm>
          <a:prstGeom prst="rect">
            <a:avLst/>
          </a:prstGeom>
          <a:noFill/>
          <a:ln/>
        </p:spPr>
        <p:txBody>
          <a:bodyPr wrap="square" lIns="0" tIns="0" rIns="0" bIns="0" rtlCol="0" anchor="ctr"/>
          <a:lstStyle/>
          <a:p>
            <a:pPr marL="0" indent="0">
              <a:buNone/>
              <a:defRPr/>
            </a:pPr>
            <a:r>
              <a:rPr lang="en-US" sz="1300" b="1" spc="300">
                <a:solidFill>
                  <a:srgbClr val="5AA9E6"/>
                </a:solidFill>
                <a:latin typeface="Calibri"/>
                <a:ea typeface="Calibri"/>
                <a:cs typeface="Calibri"/>
              </a:rPr>
              <a:t>THE PROBLEM</a:t>
            </a:r>
            <a:endParaRPr lang="en-US" sz="1300"/>
          </a:p>
        </p:txBody>
      </p:sp>
      <p:sp>
        <p:nvSpPr>
          <p:cNvPr id="2039121843" name="Text 3"/>
          <p:cNvSpPr txBox="1"/>
          <p:nvPr/>
        </p:nvSpPr>
        <p:spPr bwMode="auto">
          <a:xfrm>
            <a:off x="548640" y="1783080"/>
            <a:ext cx="7315200" cy="1280160"/>
          </a:xfrm>
          <a:prstGeom prst="rect">
            <a:avLst/>
          </a:prstGeom>
          <a:noFill/>
          <a:ln/>
        </p:spPr>
        <p:txBody>
          <a:bodyPr wrap="square" lIns="0" tIns="0" rIns="0" bIns="0" rtlCol="0" anchor="ctr"/>
          <a:lstStyle/>
          <a:p>
            <a:pPr marL="0" indent="0">
              <a:buNone/>
              <a:defRPr/>
            </a:pPr>
            <a:r>
              <a:rPr lang="en-US" sz="5000" b="1">
                <a:solidFill>
                  <a:srgbClr val="FFFFFF"/>
                </a:solidFill>
                <a:latin typeface="Cambria"/>
                <a:ea typeface="Cambria"/>
                <a:cs typeface="Cambria"/>
              </a:rPr>
              <a:t>25 million litres a day.</a:t>
            </a:r>
            <a:endParaRPr lang="en-US" sz="5000"/>
          </a:p>
        </p:txBody>
      </p:sp>
      <p:sp>
        <p:nvSpPr>
          <p:cNvPr id="916343241" name="Text 4"/>
          <p:cNvSpPr txBox="1"/>
          <p:nvPr/>
        </p:nvSpPr>
        <p:spPr bwMode="auto">
          <a:xfrm>
            <a:off x="548640" y="3200400"/>
            <a:ext cx="6949440" cy="731520"/>
          </a:xfrm>
          <a:prstGeom prst="rect">
            <a:avLst/>
          </a:prstGeom>
          <a:noFill/>
          <a:ln/>
        </p:spPr>
        <p:txBody>
          <a:bodyPr wrap="square" lIns="0" tIns="0" rIns="0" bIns="0" rtlCol="0" anchor="ctr"/>
          <a:lstStyle/>
          <a:p>
            <a:pPr marL="0" indent="0">
              <a:lnSpc>
                <a:spcPts val="2700"/>
              </a:lnSpc>
              <a:buNone/>
              <a:defRPr/>
            </a:pPr>
            <a:r>
              <a:rPr lang="en-US" sz="2000">
                <a:solidFill>
                  <a:srgbClr val="EAF2FA"/>
                </a:solidFill>
                <a:latin typeface="Calibri"/>
                <a:ea typeface="Calibri"/>
                <a:cs typeface="Calibri"/>
              </a:rPr>
              <a:t>Ten Olympic swimming pools, collecting in the old coal mines beneath eMalahleni.</a:t>
            </a:r>
            <a:endParaRPr lang="en-US" sz="2000"/>
          </a:p>
        </p:txBody>
      </p:sp>
      <p:sp>
        <p:nvSpPr>
          <p:cNvPr id="1524295552" name="Text 5"/>
          <p:cNvSpPr txBox="1"/>
          <p:nvPr/>
        </p:nvSpPr>
        <p:spPr bwMode="auto">
          <a:xfrm>
            <a:off x="548640" y="4114800"/>
            <a:ext cx="6949440" cy="822960"/>
          </a:xfrm>
          <a:prstGeom prst="rect">
            <a:avLst/>
          </a:prstGeom>
          <a:noFill/>
          <a:ln/>
        </p:spPr>
        <p:txBody>
          <a:bodyPr wrap="square" lIns="0" tIns="0" rIns="0" bIns="0" rtlCol="0" anchor="ctr"/>
          <a:lstStyle/>
          <a:p>
            <a:pPr marL="0" indent="0">
              <a:lnSpc>
                <a:spcPts val="2700"/>
              </a:lnSpc>
              <a:buNone/>
              <a:defRPr/>
            </a:pPr>
            <a:r>
              <a:rPr lang="en-US" sz="2000" b="1">
                <a:solidFill>
                  <a:srgbClr val="5AA9E6"/>
                </a:solidFill>
                <a:latin typeface="Calibri"/>
                <a:ea typeface="Calibri"/>
                <a:cs typeface="Calibri"/>
              </a:rPr>
              <a:t>When it leaves a mine, nobody tests it. That is how Kromdraai killed 112 km of river in 2022.</a:t>
            </a:r>
            <a:endParaRPr lang="en-US" sz="2000"/>
          </a:p>
        </p:txBody>
      </p:sp>
      <p:sp>
        <p:nvSpPr>
          <p:cNvPr id="1551184267" name="Text 6"/>
          <p:cNvSpPr txBox="1"/>
          <p:nvPr/>
        </p:nvSpPr>
        <p:spPr bwMode="auto">
          <a:xfrm>
            <a:off x="548640" y="6263640"/>
            <a:ext cx="4572000" cy="274320"/>
          </a:xfrm>
          <a:prstGeom prst="rect">
            <a:avLst/>
          </a:prstGeom>
          <a:noFill/>
          <a:ln/>
        </p:spPr>
        <p:txBody>
          <a:bodyPr wrap="square" lIns="0" tIns="0" rIns="0" bIns="0" rtlCol="0" anchor="ctr"/>
          <a:lstStyle/>
          <a:p>
            <a:pPr marL="0" indent="0">
              <a:buNone/>
              <a:defRPr/>
            </a:pPr>
            <a:r>
              <a:rPr lang="en-US" sz="1000">
                <a:solidFill>
                  <a:srgbClr val="5AA9E6"/>
                </a:solidFill>
                <a:latin typeface="Calibri"/>
                <a:ea typeface="Calibri"/>
                <a:cs typeface="Calibri"/>
              </a:rPr>
              <a:t>zMz  |  Kusile WaterGuard</a:t>
            </a:r>
            <a:endParaRPr lang="en-US" sz="1000"/>
          </a:p>
        </p:txBody>
      </p:sp>
      <p:sp>
        <p:nvSpPr>
          <p:cNvPr id="192356124" name="Text 7"/>
          <p:cNvSpPr txBox="1"/>
          <p:nvPr/>
        </p:nvSpPr>
        <p:spPr bwMode="auto">
          <a:xfrm>
            <a:off x="3291840" y="6263640"/>
            <a:ext cx="6949440" cy="274320"/>
          </a:xfrm>
          <a:prstGeom prst="rect">
            <a:avLst/>
          </a:prstGeom>
          <a:noFill/>
          <a:ln/>
        </p:spPr>
        <p:txBody>
          <a:bodyPr wrap="square" lIns="0" tIns="0" rIns="0" bIns="0" rtlCol="0" anchor="ctr"/>
          <a:lstStyle/>
          <a:p>
            <a:pPr marL="0" indent="0" algn="r">
              <a:buNone/>
              <a:defRPr/>
            </a:pPr>
            <a:r>
              <a:rPr lang="en-US" sz="900">
                <a:solidFill>
                  <a:srgbClr val="B9CFE4"/>
                </a:solidFill>
                <a:latin typeface="Calibri"/>
                <a:ea typeface="Calibri"/>
                <a:cs typeface="Calibri"/>
              </a:rPr>
              <a:t>Sources: Anglo American / UNFCCC; Mail &amp; Guardian (2022); Daily Maverick (2024)</a:t>
            </a:r>
            <a:endParaRPr lang="en-US" sz="900"/>
          </a:p>
        </p:txBody>
      </p:sp>
      <p:sp>
        <p:nvSpPr>
          <p:cNvPr id="413407453" name="Shape 8"/>
          <p:cNvSpPr/>
          <p:nvPr/>
        </p:nvSpPr>
        <p:spPr bwMode="auto">
          <a:xfrm>
            <a:off x="10927079" y="6035039"/>
            <a:ext cx="1005840" cy="502920"/>
          </a:xfrm>
          <a:prstGeom prst="roundRect">
            <a:avLst>
              <a:gd name="adj" fmla="val 10909"/>
            </a:avLst>
          </a:prstGeom>
          <a:solidFill>
            <a:srgbClr val="FFFFFF"/>
          </a:solidFill>
          <a:ln w="6350">
            <a:solidFill>
              <a:srgbClr val="FFFFFF"/>
            </a:solidFill>
            <a:prstDash val="solid"/>
          </a:ln>
        </p:spPr>
      </p:sp>
      <p:pic>
        <p:nvPicPr>
          <p:cNvPr id="685215879" name="Image 1" descr="/mnt/user-data/outputs/deckassets/logo.jpg"/>
          <p:cNvPicPr>
            <a:picLocks noChangeAspect="1"/>
          </p:cNvPicPr>
          <p:nvPr/>
        </p:nvPicPr>
        <p:blipFill rotWithShape="1">
          <a:blip r:embed="rId4"/>
          <a:stretch/>
        </p:blipFill>
        <p:spPr bwMode="auto">
          <a:xfrm>
            <a:off x="10991088" y="6135624"/>
            <a:ext cx="877824" cy="30175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0B2545"/>
        </a:solidFill>
      </p:bgPr>
    </p:bg>
    <p:spTree>
      <p:nvGrpSpPr>
        <p:cNvPr id="1" name=""/>
        <p:cNvGrpSpPr/>
        <p:nvPr/>
      </p:nvGrpSpPr>
      <p:grpSpPr bwMode="auto">
        <a:xfrm>
          <a:off x="0" y="0"/>
          <a:ext cx="0" cy="0"/>
          <a:chOff x="0" y="0"/>
          <a:chExt cx="0" cy="0"/>
        </a:xfrm>
      </p:grpSpPr>
      <p:sp>
        <p:nvSpPr>
          <p:cNvPr id="419602091" name="Shape 0"/>
          <p:cNvSpPr/>
          <p:nvPr/>
        </p:nvSpPr>
        <p:spPr bwMode="auto">
          <a:xfrm>
            <a:off x="9052560" y="-2011680"/>
            <a:ext cx="5852160" cy="5852160"/>
          </a:xfrm>
          <a:prstGeom prst="ellipse">
            <a:avLst/>
          </a:prstGeom>
          <a:solidFill>
            <a:srgbClr val="1B5FA8">
              <a:alpha val="45000"/>
            </a:srgbClr>
          </a:solidFill>
          <a:ln w="12700">
            <a:solidFill>
              <a:srgbClr val="1B5FA8"/>
            </a:solidFill>
            <a:prstDash val="solid"/>
          </a:ln>
        </p:spPr>
      </p:sp>
      <p:sp>
        <p:nvSpPr>
          <p:cNvPr id="1125778780" name="Text 1"/>
          <p:cNvSpPr txBox="1"/>
          <p:nvPr/>
        </p:nvSpPr>
        <p:spPr bwMode="auto">
          <a:xfrm>
            <a:off x="731520" y="1645920"/>
            <a:ext cx="5486400" cy="320040"/>
          </a:xfrm>
          <a:prstGeom prst="rect">
            <a:avLst/>
          </a:prstGeom>
          <a:noFill/>
          <a:ln/>
        </p:spPr>
        <p:txBody>
          <a:bodyPr wrap="square" lIns="0" tIns="0" rIns="0" bIns="0" rtlCol="0" anchor="ctr"/>
          <a:lstStyle/>
          <a:p>
            <a:pPr marL="0" indent="0">
              <a:buNone/>
              <a:defRPr/>
            </a:pPr>
            <a:r>
              <a:rPr lang="en-US" sz="1300" b="1" spc="300">
                <a:solidFill>
                  <a:srgbClr val="5AA9E6"/>
                </a:solidFill>
                <a:latin typeface="Calibri"/>
                <a:ea typeface="Calibri"/>
                <a:cs typeface="Calibri"/>
              </a:rPr>
              <a:t>THE SOLUTION</a:t>
            </a:r>
            <a:endParaRPr lang="en-US" sz="1300"/>
          </a:p>
        </p:txBody>
      </p:sp>
      <p:sp>
        <p:nvSpPr>
          <p:cNvPr id="889652345" name="Text 2"/>
          <p:cNvSpPr txBox="1"/>
          <p:nvPr/>
        </p:nvSpPr>
        <p:spPr bwMode="auto">
          <a:xfrm>
            <a:off x="731520" y="2194560"/>
            <a:ext cx="10058400" cy="1097280"/>
          </a:xfrm>
          <a:prstGeom prst="rect">
            <a:avLst/>
          </a:prstGeom>
          <a:noFill/>
          <a:ln/>
        </p:spPr>
        <p:txBody>
          <a:bodyPr wrap="square" lIns="0" tIns="0" rIns="0" bIns="0" rtlCol="0" anchor="ctr"/>
          <a:lstStyle/>
          <a:p>
            <a:pPr marL="0" indent="0">
              <a:buNone/>
              <a:defRPr/>
            </a:pPr>
            <a:r>
              <a:rPr lang="en-US" sz="3000" b="1">
                <a:solidFill>
                  <a:srgbClr val="5AA9E6"/>
                </a:solidFill>
                <a:latin typeface="Cambria"/>
                <a:ea typeface="Cambria"/>
                <a:cs typeface="Cambria"/>
              </a:rPr>
              <a:t>What if </a:t>
            </a:r>
            <a:r>
              <a:rPr lang="en-US" sz="3000">
                <a:solidFill>
                  <a:srgbClr val="EAF2FA"/>
                </a:solidFill>
                <a:latin typeface="Cambria"/>
                <a:ea typeface="Cambria"/>
                <a:cs typeface="Cambria"/>
              </a:rPr>
              <a:t>every litre leaving a coal mine had to pass a test first?</a:t>
            </a:r>
            <a:endParaRPr lang="en-US" sz="3000"/>
          </a:p>
        </p:txBody>
      </p:sp>
      <p:sp>
        <p:nvSpPr>
          <p:cNvPr id="1500415069" name="Shape 3"/>
          <p:cNvSpPr/>
          <p:nvPr/>
        </p:nvSpPr>
        <p:spPr bwMode="auto">
          <a:xfrm>
            <a:off x="731520" y="3566160"/>
            <a:ext cx="1828800" cy="0"/>
          </a:xfrm>
          <a:prstGeom prst="line">
            <a:avLst/>
          </a:prstGeom>
          <a:noFill/>
          <a:ln w="25400">
            <a:solidFill>
              <a:srgbClr val="5AA9E6"/>
            </a:solidFill>
            <a:prstDash val="solid"/>
          </a:ln>
        </p:spPr>
      </p:sp>
      <p:sp>
        <p:nvSpPr>
          <p:cNvPr id="975370757" name="Text 4"/>
          <p:cNvSpPr txBox="1"/>
          <p:nvPr/>
        </p:nvSpPr>
        <p:spPr bwMode="auto">
          <a:xfrm>
            <a:off x="731520" y="3840480"/>
            <a:ext cx="10058400" cy="914400"/>
          </a:xfrm>
          <a:prstGeom prst="rect">
            <a:avLst/>
          </a:prstGeom>
          <a:noFill/>
          <a:ln/>
        </p:spPr>
        <p:txBody>
          <a:bodyPr wrap="square" lIns="0" tIns="0" rIns="0" bIns="0" rtlCol="0" anchor="ctr"/>
          <a:lstStyle/>
          <a:p>
            <a:pPr marL="0" indent="0">
              <a:buNone/>
              <a:defRPr/>
            </a:pPr>
            <a:r>
              <a:rPr lang="en-US" sz="3800" b="1">
                <a:solidFill>
                  <a:srgbClr val="FFFFFF"/>
                </a:solidFill>
                <a:latin typeface="Cambria"/>
                <a:ea typeface="Cambria"/>
                <a:cs typeface="Cambria"/>
              </a:rPr>
              <a:t>That's why we built Kusile WaterGuard.</a:t>
            </a:r>
            <a:endParaRPr lang="en-US" sz="3800"/>
          </a:p>
        </p:txBody>
      </p:sp>
      <p:sp>
        <p:nvSpPr>
          <p:cNvPr id="706364354" name="Text 5"/>
          <p:cNvSpPr txBox="1"/>
          <p:nvPr/>
        </p:nvSpPr>
        <p:spPr bwMode="auto">
          <a:xfrm>
            <a:off x="548640" y="6263640"/>
            <a:ext cx="4572000" cy="274320"/>
          </a:xfrm>
          <a:prstGeom prst="rect">
            <a:avLst/>
          </a:prstGeom>
          <a:noFill/>
          <a:ln/>
        </p:spPr>
        <p:txBody>
          <a:bodyPr wrap="square" lIns="0" tIns="0" rIns="0" bIns="0" rtlCol="0" anchor="ctr"/>
          <a:lstStyle/>
          <a:p>
            <a:pPr marL="0" indent="0">
              <a:buNone/>
              <a:defRPr/>
            </a:pPr>
            <a:r>
              <a:rPr lang="en-US" sz="1000">
                <a:solidFill>
                  <a:srgbClr val="5AA9E6"/>
                </a:solidFill>
                <a:latin typeface="Calibri"/>
                <a:ea typeface="Calibri"/>
                <a:cs typeface="Calibri"/>
              </a:rPr>
              <a:t>zMz  |  Kusile WaterGuard</a:t>
            </a:r>
            <a:endParaRPr lang="en-US" sz="1000"/>
          </a:p>
        </p:txBody>
      </p:sp>
      <p:sp>
        <p:nvSpPr>
          <p:cNvPr id="370911199" name="Shape 6"/>
          <p:cNvSpPr/>
          <p:nvPr/>
        </p:nvSpPr>
        <p:spPr bwMode="auto">
          <a:xfrm>
            <a:off x="10927079" y="6035039"/>
            <a:ext cx="1005840" cy="502920"/>
          </a:xfrm>
          <a:prstGeom prst="roundRect">
            <a:avLst>
              <a:gd name="adj" fmla="val 10909"/>
            </a:avLst>
          </a:prstGeom>
          <a:solidFill>
            <a:srgbClr val="FFFFFF"/>
          </a:solidFill>
          <a:ln w="6350">
            <a:solidFill>
              <a:srgbClr val="FFFFFF"/>
            </a:solidFill>
            <a:prstDash val="solid"/>
          </a:ln>
        </p:spPr>
      </p:sp>
      <p:pic>
        <p:nvPicPr>
          <p:cNvPr id="991530030" name="Image 0" descr="/mnt/user-data/outputs/deckassets/logo.jpg"/>
          <p:cNvPicPr>
            <a:picLocks noChangeAspect="1"/>
          </p:cNvPicPr>
          <p:nvPr/>
        </p:nvPicPr>
        <p:blipFill rotWithShape="1">
          <a:blip r:embed="rId3"/>
          <a:stretch/>
        </p:blipFill>
        <p:spPr bwMode="auto">
          <a:xfrm>
            <a:off x="10991088" y="6135624"/>
            <a:ext cx="877824" cy="30175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F3F7FB"/>
        </a:solidFill>
      </p:bgPr>
    </p:bg>
    <p:spTree>
      <p:nvGrpSpPr>
        <p:cNvPr id="1" name=""/>
        <p:cNvGrpSpPr/>
        <p:nvPr/>
      </p:nvGrpSpPr>
      <p:grpSpPr bwMode="auto">
        <a:xfrm>
          <a:off x="0" y="0"/>
          <a:ext cx="0" cy="0"/>
          <a:chOff x="0" y="0"/>
          <a:chExt cx="0" cy="0"/>
        </a:xfrm>
      </p:grpSpPr>
      <p:sp>
        <p:nvSpPr>
          <p:cNvPr id="920201305" name="Text 0"/>
          <p:cNvSpPr txBox="1"/>
          <p:nvPr/>
        </p:nvSpPr>
        <p:spPr bwMode="auto">
          <a:xfrm>
            <a:off x="548640" y="411480"/>
            <a:ext cx="8229600" cy="274320"/>
          </a:xfrm>
          <a:prstGeom prst="rect">
            <a:avLst/>
          </a:prstGeom>
          <a:noFill/>
          <a:ln/>
        </p:spPr>
        <p:txBody>
          <a:bodyPr wrap="square" lIns="0" tIns="0" rIns="0" bIns="0" rtlCol="0" anchor="ctr"/>
          <a:lstStyle/>
          <a:p>
            <a:pPr marL="0" indent="0">
              <a:buNone/>
              <a:defRPr/>
            </a:pPr>
            <a:r>
              <a:rPr lang="en-US" sz="1200" b="1" spc="200">
                <a:solidFill>
                  <a:srgbClr val="1B5FA8"/>
                </a:solidFill>
                <a:latin typeface="Calibri"/>
                <a:ea typeface="Calibri"/>
                <a:cs typeface="Calibri"/>
              </a:rPr>
              <a:t>WHAT IT IS</a:t>
            </a:r>
            <a:endParaRPr lang="en-US" sz="1200"/>
          </a:p>
        </p:txBody>
      </p:sp>
      <p:sp>
        <p:nvSpPr>
          <p:cNvPr id="983592391" name="Text 1"/>
          <p:cNvSpPr txBox="1"/>
          <p:nvPr/>
        </p:nvSpPr>
        <p:spPr bwMode="auto">
          <a:xfrm>
            <a:off x="548640" y="731520"/>
            <a:ext cx="10515600" cy="685800"/>
          </a:xfrm>
          <a:prstGeom prst="rect">
            <a:avLst/>
          </a:prstGeom>
          <a:noFill/>
          <a:ln/>
        </p:spPr>
        <p:txBody>
          <a:bodyPr wrap="square" lIns="0" tIns="0" rIns="0" bIns="0" rtlCol="0" anchor="ctr"/>
          <a:lstStyle/>
          <a:p>
            <a:pPr marL="0" indent="0">
              <a:buNone/>
              <a:defRPr/>
            </a:pPr>
            <a:r>
              <a:rPr lang="en-US" sz="3200" b="1">
                <a:solidFill>
                  <a:srgbClr val="0B2545"/>
                </a:solidFill>
                <a:latin typeface="Cambria"/>
                <a:ea typeface="Cambria"/>
                <a:cs typeface="Cambria"/>
              </a:rPr>
              <a:t>A smart gate between the dam and the river</a:t>
            </a:r>
            <a:endParaRPr lang="en-US" sz="3200"/>
          </a:p>
        </p:txBody>
      </p:sp>
      <p:sp>
        <p:nvSpPr>
          <p:cNvPr id="1194476896" name="Text 2"/>
          <p:cNvSpPr txBox="1"/>
          <p:nvPr/>
        </p:nvSpPr>
        <p:spPr bwMode="auto">
          <a:xfrm>
            <a:off x="548640" y="1600200"/>
            <a:ext cx="6766560" cy="822960"/>
          </a:xfrm>
          <a:prstGeom prst="rect">
            <a:avLst/>
          </a:prstGeom>
          <a:noFill/>
          <a:ln/>
        </p:spPr>
        <p:txBody>
          <a:bodyPr wrap="square" lIns="0" tIns="0" rIns="0" bIns="0" rtlCol="0" anchor="ctr"/>
          <a:lstStyle/>
          <a:p>
            <a:pPr marL="0" indent="0">
              <a:lnSpc>
                <a:spcPts val="2400"/>
              </a:lnSpc>
              <a:buNone/>
              <a:defRPr/>
            </a:pPr>
            <a:r>
              <a:rPr lang="en-US" sz="1700">
                <a:solidFill>
                  <a:srgbClr val="4A5B70"/>
                </a:solidFill>
                <a:latin typeface="Calibri"/>
                <a:ea typeface="Calibri"/>
                <a:cs typeface="Calibri"/>
              </a:rPr>
              <a:t>A low-cost node at the outlet of a mine's pollution control dam. It tests water in batches, releases only clean water, and holds back and treats the rest.</a:t>
            </a:r>
            <a:endParaRPr lang="en-US" sz="1700"/>
          </a:p>
        </p:txBody>
      </p:sp>
      <p:sp>
        <p:nvSpPr>
          <p:cNvPr id="1970077923" name="Shape 3"/>
          <p:cNvSpPr/>
          <p:nvPr/>
        </p:nvSpPr>
        <p:spPr bwMode="auto">
          <a:xfrm>
            <a:off x="548640" y="2743200"/>
            <a:ext cx="2651760" cy="1371600"/>
          </a:xfrm>
          <a:prstGeom prst="roundRect">
            <a:avLst>
              <a:gd name="adj" fmla="val 5333"/>
            </a:avLst>
          </a:prstGeom>
          <a:solidFill>
            <a:srgbClr val="FFFFFF"/>
          </a:solidFill>
          <a:ln w="12700">
            <a:solidFill>
              <a:srgbClr val="D6E3F0"/>
            </a:solidFill>
            <a:prstDash val="solid"/>
          </a:ln>
          <a:effectLst>
            <a:outerShdw blurRad="76200" dist="12700" dir="5400000" sx="100000" sy="100000" kx="0" ky="0" algn="bl" rotWithShape="0">
              <a:srgbClr val="9FB4C7">
                <a:alpha val="25000"/>
              </a:srgbClr>
            </a:outerShdw>
          </a:effectLst>
        </p:spPr>
      </p:sp>
      <p:sp>
        <p:nvSpPr>
          <p:cNvPr id="1370109955" name="Text 4"/>
          <p:cNvSpPr txBox="1"/>
          <p:nvPr/>
        </p:nvSpPr>
        <p:spPr bwMode="auto">
          <a:xfrm>
            <a:off x="777240" y="2926080"/>
            <a:ext cx="2194560" cy="320040"/>
          </a:xfrm>
          <a:prstGeom prst="rect">
            <a:avLst/>
          </a:prstGeom>
          <a:noFill/>
          <a:ln/>
        </p:spPr>
        <p:txBody>
          <a:bodyPr wrap="square" lIns="0" tIns="0" rIns="0" bIns="0" rtlCol="0" anchor="ctr"/>
          <a:lstStyle/>
          <a:p>
            <a:pPr marL="0" indent="0">
              <a:buNone/>
              <a:defRPr/>
            </a:pPr>
            <a:r>
              <a:rPr lang="en-US" sz="1800" b="1">
                <a:solidFill>
                  <a:srgbClr val="1B5FA8"/>
                </a:solidFill>
                <a:latin typeface="Cambria"/>
                <a:ea typeface="Cambria"/>
                <a:cs typeface="Cambria"/>
              </a:rPr>
              <a:t>1  Test</a:t>
            </a:r>
            <a:endParaRPr lang="en-US" sz="1800"/>
          </a:p>
        </p:txBody>
      </p:sp>
      <p:sp>
        <p:nvSpPr>
          <p:cNvPr id="1503778025" name="Text 5"/>
          <p:cNvSpPr txBox="1"/>
          <p:nvPr/>
        </p:nvSpPr>
        <p:spPr bwMode="auto">
          <a:xfrm>
            <a:off x="777240" y="3291840"/>
            <a:ext cx="2194560" cy="685800"/>
          </a:xfrm>
          <a:prstGeom prst="rect">
            <a:avLst/>
          </a:prstGeom>
          <a:noFill/>
          <a:ln/>
        </p:spPr>
        <p:txBody>
          <a:bodyPr wrap="square" lIns="0" tIns="0" rIns="0" bIns="0" rtlCol="0" anchor="ctr"/>
          <a:lstStyle/>
          <a:p>
            <a:pPr marL="0" indent="0">
              <a:lnSpc>
                <a:spcPts val="1800"/>
              </a:lnSpc>
              <a:buNone/>
              <a:defRPr/>
            </a:pPr>
            <a:r>
              <a:rPr lang="en-US" sz="1400">
                <a:solidFill>
                  <a:srgbClr val="4A5B70"/>
                </a:solidFill>
                <a:latin typeface="Calibri"/>
                <a:ea typeface="Calibri"/>
                <a:cs typeface="Calibri"/>
              </a:rPr>
              <a:t>Every batch, on site</a:t>
            </a:r>
            <a:endParaRPr lang="en-US" sz="1400"/>
          </a:p>
        </p:txBody>
      </p:sp>
      <p:sp>
        <p:nvSpPr>
          <p:cNvPr id="1395423823" name="Shape 6"/>
          <p:cNvSpPr/>
          <p:nvPr/>
        </p:nvSpPr>
        <p:spPr bwMode="auto">
          <a:xfrm>
            <a:off x="3383280" y="2743200"/>
            <a:ext cx="2651760" cy="1371600"/>
          </a:xfrm>
          <a:prstGeom prst="roundRect">
            <a:avLst>
              <a:gd name="adj" fmla="val 5333"/>
            </a:avLst>
          </a:prstGeom>
          <a:solidFill>
            <a:srgbClr val="0B2545"/>
          </a:solidFill>
          <a:ln w="12700">
            <a:solidFill>
              <a:srgbClr val="0B2545"/>
            </a:solidFill>
            <a:prstDash val="solid"/>
          </a:ln>
          <a:effectLst>
            <a:outerShdw blurRad="76200" dist="12700" dir="5400000" sx="100000" sy="100000" kx="0" ky="0" algn="bl" rotWithShape="0">
              <a:srgbClr val="9FB4C7">
                <a:alpha val="25000"/>
              </a:srgbClr>
            </a:outerShdw>
          </a:effectLst>
        </p:spPr>
      </p:sp>
      <p:sp>
        <p:nvSpPr>
          <p:cNvPr id="1077777000" name="Text 7"/>
          <p:cNvSpPr txBox="1"/>
          <p:nvPr/>
        </p:nvSpPr>
        <p:spPr bwMode="auto">
          <a:xfrm>
            <a:off x="3611880" y="2926080"/>
            <a:ext cx="2194560" cy="320040"/>
          </a:xfrm>
          <a:prstGeom prst="rect">
            <a:avLst/>
          </a:prstGeom>
          <a:noFill/>
          <a:ln/>
        </p:spPr>
        <p:txBody>
          <a:bodyPr wrap="square" lIns="0" tIns="0" rIns="0" bIns="0" rtlCol="0" anchor="ctr"/>
          <a:lstStyle/>
          <a:p>
            <a:pPr marL="0" indent="0">
              <a:buNone/>
              <a:defRPr/>
            </a:pPr>
            <a:r>
              <a:rPr lang="en-US" sz="1800" b="1">
                <a:solidFill>
                  <a:srgbClr val="5AA9E6"/>
                </a:solidFill>
                <a:latin typeface="Cambria"/>
                <a:ea typeface="Cambria"/>
                <a:cs typeface="Cambria"/>
              </a:rPr>
              <a:t>2  Decide</a:t>
            </a:r>
            <a:endParaRPr lang="en-US" sz="1800"/>
          </a:p>
        </p:txBody>
      </p:sp>
      <p:sp>
        <p:nvSpPr>
          <p:cNvPr id="1827805887" name="Text 8"/>
          <p:cNvSpPr txBox="1"/>
          <p:nvPr/>
        </p:nvSpPr>
        <p:spPr bwMode="auto">
          <a:xfrm>
            <a:off x="3611880" y="3291840"/>
            <a:ext cx="2194560" cy="685800"/>
          </a:xfrm>
          <a:prstGeom prst="rect">
            <a:avLst/>
          </a:prstGeom>
          <a:noFill/>
          <a:ln/>
        </p:spPr>
        <p:txBody>
          <a:bodyPr wrap="square" lIns="0" tIns="0" rIns="0" bIns="0" rtlCol="0" anchor="ctr"/>
          <a:lstStyle/>
          <a:p>
            <a:pPr marL="0" indent="0">
              <a:lnSpc>
                <a:spcPts val="1800"/>
              </a:lnSpc>
              <a:buNone/>
              <a:defRPr/>
            </a:pPr>
            <a:r>
              <a:rPr lang="en-US" sz="1400">
                <a:solidFill>
                  <a:srgbClr val="EAF2FA"/>
                </a:solidFill>
                <a:latin typeface="Calibri"/>
                <a:ea typeface="Calibri"/>
                <a:cs typeface="Calibri"/>
              </a:rPr>
              <a:t>Clean to the river, dirty to the tank</a:t>
            </a:r>
            <a:endParaRPr lang="en-US" sz="1400"/>
          </a:p>
        </p:txBody>
      </p:sp>
      <p:sp>
        <p:nvSpPr>
          <p:cNvPr id="1813786878" name="Shape 9"/>
          <p:cNvSpPr/>
          <p:nvPr/>
        </p:nvSpPr>
        <p:spPr bwMode="auto">
          <a:xfrm>
            <a:off x="6217920" y="2743200"/>
            <a:ext cx="2651760" cy="1371600"/>
          </a:xfrm>
          <a:prstGeom prst="roundRect">
            <a:avLst>
              <a:gd name="adj" fmla="val 5333"/>
            </a:avLst>
          </a:prstGeom>
          <a:solidFill>
            <a:srgbClr val="FFFFFF"/>
          </a:solidFill>
          <a:ln w="12700">
            <a:solidFill>
              <a:srgbClr val="D6E3F0"/>
            </a:solidFill>
            <a:prstDash val="solid"/>
          </a:ln>
          <a:effectLst>
            <a:outerShdw blurRad="76200" dist="12700" dir="5400000" sx="100000" sy="100000" kx="0" ky="0" algn="bl" rotWithShape="0">
              <a:srgbClr val="9FB4C7">
                <a:alpha val="25000"/>
              </a:srgbClr>
            </a:outerShdw>
          </a:effectLst>
        </p:spPr>
      </p:sp>
      <p:sp>
        <p:nvSpPr>
          <p:cNvPr id="283796709" name="Text 10"/>
          <p:cNvSpPr txBox="1"/>
          <p:nvPr/>
        </p:nvSpPr>
        <p:spPr bwMode="auto">
          <a:xfrm>
            <a:off x="6446520" y="2926080"/>
            <a:ext cx="2194560" cy="320040"/>
          </a:xfrm>
          <a:prstGeom prst="rect">
            <a:avLst/>
          </a:prstGeom>
          <a:noFill/>
          <a:ln/>
        </p:spPr>
        <p:txBody>
          <a:bodyPr wrap="square" lIns="0" tIns="0" rIns="0" bIns="0" rtlCol="0" anchor="ctr"/>
          <a:lstStyle/>
          <a:p>
            <a:pPr marL="0" indent="0">
              <a:buNone/>
              <a:defRPr/>
            </a:pPr>
            <a:r>
              <a:rPr lang="en-US" sz="1800" b="1">
                <a:solidFill>
                  <a:srgbClr val="1B5FA8"/>
                </a:solidFill>
                <a:latin typeface="Cambria"/>
                <a:ea typeface="Cambria"/>
                <a:cs typeface="Cambria"/>
              </a:rPr>
              <a:t>3  Treat</a:t>
            </a:r>
            <a:endParaRPr lang="en-US" sz="1800"/>
          </a:p>
        </p:txBody>
      </p:sp>
      <p:sp>
        <p:nvSpPr>
          <p:cNvPr id="1431323402" name="Text 11"/>
          <p:cNvSpPr txBox="1"/>
          <p:nvPr/>
        </p:nvSpPr>
        <p:spPr bwMode="auto">
          <a:xfrm>
            <a:off x="6446520" y="3291840"/>
            <a:ext cx="2194560" cy="685800"/>
          </a:xfrm>
          <a:prstGeom prst="rect">
            <a:avLst/>
          </a:prstGeom>
          <a:noFill/>
          <a:ln/>
        </p:spPr>
        <p:txBody>
          <a:bodyPr wrap="square" lIns="0" tIns="0" rIns="0" bIns="0" rtlCol="0" anchor="ctr"/>
          <a:lstStyle/>
          <a:p>
            <a:pPr marL="0" indent="0">
              <a:lnSpc>
                <a:spcPts val="1800"/>
              </a:lnSpc>
              <a:buNone/>
              <a:defRPr/>
            </a:pPr>
            <a:r>
              <a:rPr lang="en-US" sz="1400">
                <a:solidFill>
                  <a:srgbClr val="4A5B70"/>
                </a:solidFill>
                <a:latin typeface="Calibri"/>
                <a:ea typeface="Calibri"/>
                <a:cs typeface="Calibri"/>
              </a:rPr>
              <a:t>Neutraliser dosed into the tank</a:t>
            </a:r>
            <a:endParaRPr lang="en-US" sz="1400"/>
          </a:p>
        </p:txBody>
      </p:sp>
      <p:sp>
        <p:nvSpPr>
          <p:cNvPr id="79929089" name="Shape 12"/>
          <p:cNvSpPr/>
          <p:nvPr/>
        </p:nvSpPr>
        <p:spPr bwMode="auto">
          <a:xfrm>
            <a:off x="9052560" y="2743200"/>
            <a:ext cx="2651760" cy="1371600"/>
          </a:xfrm>
          <a:prstGeom prst="roundRect">
            <a:avLst>
              <a:gd name="adj" fmla="val 5333"/>
            </a:avLst>
          </a:prstGeom>
          <a:solidFill>
            <a:srgbClr val="FFFFFF"/>
          </a:solidFill>
          <a:ln w="12700">
            <a:solidFill>
              <a:srgbClr val="D6E3F0"/>
            </a:solidFill>
            <a:prstDash val="solid"/>
          </a:ln>
          <a:effectLst>
            <a:outerShdw blurRad="76200" dist="12700" dir="5400000" sx="100000" sy="100000" kx="0" ky="0" algn="bl" rotWithShape="0">
              <a:srgbClr val="9FB4C7">
                <a:alpha val="25000"/>
              </a:srgbClr>
            </a:outerShdw>
          </a:effectLst>
        </p:spPr>
      </p:sp>
      <p:sp>
        <p:nvSpPr>
          <p:cNvPr id="951052168" name="Text 13"/>
          <p:cNvSpPr txBox="1"/>
          <p:nvPr/>
        </p:nvSpPr>
        <p:spPr bwMode="auto">
          <a:xfrm>
            <a:off x="9281160" y="2926080"/>
            <a:ext cx="2194560" cy="320040"/>
          </a:xfrm>
          <a:prstGeom prst="rect">
            <a:avLst/>
          </a:prstGeom>
          <a:noFill/>
          <a:ln/>
        </p:spPr>
        <p:txBody>
          <a:bodyPr wrap="square" lIns="0" tIns="0" rIns="0" bIns="0" rtlCol="0" anchor="ctr"/>
          <a:lstStyle/>
          <a:p>
            <a:pPr marL="0" indent="0">
              <a:buNone/>
              <a:defRPr/>
            </a:pPr>
            <a:r>
              <a:rPr lang="en-US" sz="1800" b="1">
                <a:solidFill>
                  <a:srgbClr val="1B5FA8"/>
                </a:solidFill>
                <a:latin typeface="Cambria"/>
                <a:ea typeface="Cambria"/>
                <a:cs typeface="Cambria"/>
              </a:rPr>
              <a:t>4  Record</a:t>
            </a:r>
            <a:endParaRPr lang="en-US" sz="1800"/>
          </a:p>
        </p:txBody>
      </p:sp>
      <p:sp>
        <p:nvSpPr>
          <p:cNvPr id="1231902682" name="Text 14"/>
          <p:cNvSpPr txBox="1"/>
          <p:nvPr/>
        </p:nvSpPr>
        <p:spPr bwMode="auto">
          <a:xfrm>
            <a:off x="9281160" y="3291840"/>
            <a:ext cx="2194560" cy="685800"/>
          </a:xfrm>
          <a:prstGeom prst="rect">
            <a:avLst/>
          </a:prstGeom>
          <a:noFill/>
          <a:ln/>
        </p:spPr>
        <p:txBody>
          <a:bodyPr wrap="square" lIns="0" tIns="0" rIns="0" bIns="0" rtlCol="0" anchor="ctr"/>
          <a:lstStyle/>
          <a:p>
            <a:pPr marL="0" indent="0">
              <a:lnSpc>
                <a:spcPts val="1800"/>
              </a:lnSpc>
              <a:buNone/>
              <a:defRPr/>
            </a:pPr>
            <a:r>
              <a:rPr lang="en-US" sz="1400">
                <a:solidFill>
                  <a:srgbClr val="4A5B70"/>
                </a:solidFill>
                <a:latin typeface="Calibri"/>
                <a:ea typeface="Calibri"/>
                <a:cs typeface="Calibri"/>
              </a:rPr>
              <a:t>Every release logged</a:t>
            </a:r>
            <a:endParaRPr lang="en-US" sz="1400"/>
          </a:p>
        </p:txBody>
      </p:sp>
      <p:sp>
        <p:nvSpPr>
          <p:cNvPr id="827173576" name="Shape 15"/>
          <p:cNvSpPr/>
          <p:nvPr/>
        </p:nvSpPr>
        <p:spPr bwMode="auto">
          <a:xfrm>
            <a:off x="548640" y="4572000"/>
            <a:ext cx="11064240" cy="1005840"/>
          </a:xfrm>
          <a:prstGeom prst="roundRect">
            <a:avLst>
              <a:gd name="adj" fmla="val 7273"/>
            </a:avLst>
          </a:prstGeom>
          <a:solidFill>
            <a:srgbClr val="1B5FA8"/>
          </a:solidFill>
          <a:ln w="12700">
            <a:solidFill>
              <a:srgbClr val="1B5FA8"/>
            </a:solidFill>
            <a:prstDash val="solid"/>
          </a:ln>
        </p:spPr>
      </p:sp>
      <p:sp>
        <p:nvSpPr>
          <p:cNvPr id="1282172573" name="Text 16"/>
          <p:cNvSpPr txBox="1"/>
          <p:nvPr/>
        </p:nvSpPr>
        <p:spPr bwMode="auto">
          <a:xfrm>
            <a:off x="868680" y="4754880"/>
            <a:ext cx="5029200" cy="640080"/>
          </a:xfrm>
          <a:prstGeom prst="rect">
            <a:avLst/>
          </a:prstGeom>
          <a:noFill/>
          <a:ln/>
        </p:spPr>
        <p:txBody>
          <a:bodyPr wrap="square" lIns="0" tIns="0" rIns="0" bIns="0" rtlCol="0" anchor="ctr"/>
          <a:lstStyle/>
          <a:p>
            <a:pPr marL="0" indent="0">
              <a:buNone/>
              <a:defRPr/>
            </a:pPr>
            <a:r>
              <a:rPr lang="en-US" sz="2600" b="1">
                <a:solidFill>
                  <a:srgbClr val="FFFFFF"/>
                </a:solidFill>
                <a:latin typeface="Cambria"/>
                <a:ea typeface="Cambria"/>
                <a:cs typeface="Cambria"/>
              </a:rPr>
              <a:t>No test, no release.</a:t>
            </a:r>
            <a:endParaRPr lang="en-US" sz="2600"/>
          </a:p>
        </p:txBody>
      </p:sp>
      <p:sp>
        <p:nvSpPr>
          <p:cNvPr id="1700452301" name="Text 17"/>
          <p:cNvSpPr txBox="1"/>
          <p:nvPr/>
        </p:nvSpPr>
        <p:spPr bwMode="auto">
          <a:xfrm>
            <a:off x="5760720" y="4864607"/>
            <a:ext cx="5577840" cy="457200"/>
          </a:xfrm>
          <a:prstGeom prst="rect">
            <a:avLst/>
          </a:prstGeom>
          <a:noFill/>
          <a:ln/>
        </p:spPr>
        <p:txBody>
          <a:bodyPr wrap="square" lIns="0" tIns="0" rIns="0" bIns="0" rtlCol="0" anchor="ctr"/>
          <a:lstStyle/>
          <a:p>
            <a:pPr marL="0" indent="0" algn="r">
              <a:buNone/>
              <a:defRPr/>
            </a:pPr>
            <a:r>
              <a:rPr lang="en-US" sz="1500">
                <a:solidFill>
                  <a:srgbClr val="CFE4F7"/>
                </a:solidFill>
                <a:latin typeface="Calibri"/>
                <a:ea typeface="Calibri"/>
                <a:cs typeface="Calibri"/>
              </a:rPr>
              <a:t>Proof for licensed releases  ·  A stop sign for dirty water</a:t>
            </a:r>
            <a:endParaRPr lang="en-US" sz="1500"/>
          </a:p>
        </p:txBody>
      </p:sp>
      <p:sp>
        <p:nvSpPr>
          <p:cNvPr id="616207655" name="Text 18"/>
          <p:cNvSpPr txBox="1"/>
          <p:nvPr/>
        </p:nvSpPr>
        <p:spPr bwMode="auto">
          <a:xfrm>
            <a:off x="548640" y="6263640"/>
            <a:ext cx="4572000" cy="274320"/>
          </a:xfrm>
          <a:prstGeom prst="rect">
            <a:avLst/>
          </a:prstGeom>
          <a:noFill/>
          <a:ln/>
        </p:spPr>
        <p:txBody>
          <a:bodyPr wrap="square" lIns="0" tIns="0" rIns="0" bIns="0" rtlCol="0" anchor="ctr"/>
          <a:lstStyle/>
          <a:p>
            <a:pPr marL="0" indent="0">
              <a:buNone/>
              <a:defRPr/>
            </a:pPr>
            <a:r>
              <a:rPr lang="en-US" sz="1000">
                <a:solidFill>
                  <a:srgbClr val="4A5B70"/>
                </a:solidFill>
                <a:latin typeface="Calibri"/>
                <a:ea typeface="Calibri"/>
                <a:cs typeface="Calibri"/>
              </a:rPr>
              <a:t>zMz  |  Kusile WaterGuard</a:t>
            </a:r>
            <a:endParaRPr lang="en-US" sz="1000"/>
          </a:p>
        </p:txBody>
      </p:sp>
      <p:sp>
        <p:nvSpPr>
          <p:cNvPr id="1322736252" name="Shape 19"/>
          <p:cNvSpPr/>
          <p:nvPr/>
        </p:nvSpPr>
        <p:spPr bwMode="auto">
          <a:xfrm>
            <a:off x="10927079" y="6035039"/>
            <a:ext cx="1005840" cy="502920"/>
          </a:xfrm>
          <a:prstGeom prst="roundRect">
            <a:avLst>
              <a:gd name="adj" fmla="val 10909"/>
            </a:avLst>
          </a:prstGeom>
          <a:solidFill>
            <a:srgbClr val="FFFFFF"/>
          </a:solidFill>
          <a:ln w="6350">
            <a:solidFill>
              <a:srgbClr val="D6E3F0"/>
            </a:solidFill>
            <a:prstDash val="solid"/>
          </a:ln>
        </p:spPr>
      </p:sp>
      <p:pic>
        <p:nvPicPr>
          <p:cNvPr id="2108077099" name="Image 0" descr="/mnt/user-data/outputs/deckassets/logo.jpg"/>
          <p:cNvPicPr>
            <a:picLocks noChangeAspect="1"/>
          </p:cNvPicPr>
          <p:nvPr/>
        </p:nvPicPr>
        <p:blipFill rotWithShape="1">
          <a:blip r:embed="rId3"/>
          <a:stretch/>
        </p:blipFill>
        <p:spPr bwMode="auto">
          <a:xfrm>
            <a:off x="10991088" y="6135624"/>
            <a:ext cx="877824" cy="30175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F3F7FB"/>
        </a:solidFill>
      </p:bgPr>
    </p:bg>
    <p:spTree>
      <p:nvGrpSpPr>
        <p:cNvPr id="1" name=""/>
        <p:cNvGrpSpPr/>
        <p:nvPr/>
      </p:nvGrpSpPr>
      <p:grpSpPr bwMode="auto">
        <a:xfrm>
          <a:off x="0" y="0"/>
          <a:ext cx="0" cy="0"/>
          <a:chOff x="0" y="0"/>
          <a:chExt cx="0" cy="0"/>
        </a:xfrm>
      </p:grpSpPr>
      <p:sp>
        <p:nvSpPr>
          <p:cNvPr id="587817608" name="Text 0"/>
          <p:cNvSpPr txBox="1"/>
          <p:nvPr/>
        </p:nvSpPr>
        <p:spPr bwMode="auto">
          <a:xfrm>
            <a:off x="548640" y="411480"/>
            <a:ext cx="8229600" cy="274320"/>
          </a:xfrm>
          <a:prstGeom prst="rect">
            <a:avLst/>
          </a:prstGeom>
          <a:noFill/>
          <a:ln/>
        </p:spPr>
        <p:txBody>
          <a:bodyPr wrap="square" lIns="0" tIns="0" rIns="0" bIns="0" rtlCol="0" anchor="ctr"/>
          <a:lstStyle/>
          <a:p>
            <a:pPr marL="0" indent="0">
              <a:buNone/>
              <a:defRPr/>
            </a:pPr>
            <a:r>
              <a:rPr lang="en-US" sz="1200" b="1" spc="200">
                <a:solidFill>
                  <a:srgbClr val="1B5FA8"/>
                </a:solidFill>
                <a:latin typeface="Calibri"/>
                <a:ea typeface="Calibri"/>
                <a:cs typeface="Calibri"/>
              </a:rPr>
              <a:t>THE PROTOTYPE</a:t>
            </a:r>
            <a:endParaRPr lang="en-US" sz="1200"/>
          </a:p>
        </p:txBody>
      </p:sp>
      <p:sp>
        <p:nvSpPr>
          <p:cNvPr id="1337829476" name="Text 1"/>
          <p:cNvSpPr txBox="1"/>
          <p:nvPr/>
        </p:nvSpPr>
        <p:spPr bwMode="auto">
          <a:xfrm>
            <a:off x="548640" y="731520"/>
            <a:ext cx="10515600" cy="685800"/>
          </a:xfrm>
          <a:prstGeom prst="rect">
            <a:avLst/>
          </a:prstGeom>
          <a:noFill/>
          <a:ln/>
        </p:spPr>
        <p:txBody>
          <a:bodyPr wrap="square" lIns="0" tIns="0" rIns="0" bIns="0" rtlCol="0" anchor="ctr"/>
          <a:lstStyle/>
          <a:p>
            <a:pPr marL="0" indent="0">
              <a:buNone/>
              <a:defRPr/>
            </a:pPr>
            <a:r>
              <a:rPr lang="en-US" sz="3200" b="1">
                <a:solidFill>
                  <a:srgbClr val="0B2545"/>
                </a:solidFill>
                <a:latin typeface="Cambria"/>
                <a:ea typeface="Cambria"/>
                <a:cs typeface="Cambria"/>
              </a:rPr>
              <a:t>Built and running today</a:t>
            </a:r>
            <a:endParaRPr lang="en-US" sz="3200"/>
          </a:p>
        </p:txBody>
      </p:sp>
      <p:pic>
        <p:nvPicPr>
          <p:cNvPr id="2001792727" name="Image 0" descr="/mnt/user-data/outputs/deckassets/rig.jpg"/>
          <p:cNvPicPr>
            <a:picLocks noChangeAspect="1"/>
          </p:cNvPicPr>
          <p:nvPr/>
        </p:nvPicPr>
        <p:blipFill rotWithShape="1">
          <a:blip r:embed="rId3"/>
          <a:srcRect l="0" t="0" r="0" b="0"/>
          <a:stretch/>
        </p:blipFill>
        <p:spPr bwMode="auto">
          <a:xfrm>
            <a:off x="6309360" y="1463040"/>
            <a:ext cx="5303520" cy="4023360"/>
          </a:xfrm>
          <a:prstGeom prst="rect">
            <a:avLst/>
          </a:prstGeom>
        </p:spPr>
      </p:pic>
      <p:sp>
        <p:nvSpPr>
          <p:cNvPr id="1054656900" name="Shape 2"/>
          <p:cNvSpPr/>
          <p:nvPr/>
        </p:nvSpPr>
        <p:spPr bwMode="auto">
          <a:xfrm>
            <a:off x="6309360" y="1463040"/>
            <a:ext cx="5303520" cy="4023360"/>
          </a:xfrm>
          <a:prstGeom prst="roundRect">
            <a:avLst>
              <a:gd name="adj" fmla="val 1136"/>
            </a:avLst>
          </a:prstGeom>
          <a:ln w="12700">
            <a:solidFill>
              <a:srgbClr val="D6E3F0"/>
            </a:solidFill>
            <a:prstDash val="solid"/>
          </a:ln>
        </p:spPr>
      </p:sp>
      <p:sp>
        <p:nvSpPr>
          <p:cNvPr id="1994201412" name="Shape 3"/>
          <p:cNvSpPr/>
          <p:nvPr/>
        </p:nvSpPr>
        <p:spPr bwMode="auto">
          <a:xfrm>
            <a:off x="594360" y="1673352"/>
            <a:ext cx="292608" cy="292608"/>
          </a:xfrm>
          <a:prstGeom prst="ellipse">
            <a:avLst/>
          </a:prstGeom>
          <a:solidFill>
            <a:srgbClr val="1B5FA8"/>
          </a:solidFill>
          <a:ln w="12700">
            <a:solidFill>
              <a:srgbClr val="1B5FA8"/>
            </a:solidFill>
            <a:prstDash val="solid"/>
          </a:ln>
        </p:spPr>
      </p:sp>
      <p:sp>
        <p:nvSpPr>
          <p:cNvPr id="1601396783" name="Text 4"/>
          <p:cNvSpPr txBox="1"/>
          <p:nvPr/>
        </p:nvSpPr>
        <p:spPr bwMode="auto">
          <a:xfrm>
            <a:off x="594360" y="1682496"/>
            <a:ext cx="292608" cy="274320"/>
          </a:xfrm>
          <a:prstGeom prst="rect">
            <a:avLst/>
          </a:prstGeom>
          <a:noFill/>
          <a:ln/>
        </p:spPr>
        <p:txBody>
          <a:bodyPr wrap="square" lIns="0" tIns="0" rIns="0" bIns="0" rtlCol="0" anchor="ctr"/>
          <a:lstStyle/>
          <a:p>
            <a:pPr marL="0" indent="0" algn="ctr">
              <a:buNone/>
              <a:defRPr/>
            </a:pPr>
            <a:r>
              <a:rPr lang="en-US" sz="1200" b="1">
                <a:solidFill>
                  <a:srgbClr val="FFFFFF"/>
                </a:solidFill>
                <a:latin typeface="Calibri"/>
                <a:ea typeface="Calibri"/>
                <a:cs typeface="Calibri"/>
              </a:rPr>
              <a:t>1</a:t>
            </a:r>
            <a:endParaRPr lang="en-US" sz="1200"/>
          </a:p>
        </p:txBody>
      </p:sp>
      <p:sp>
        <p:nvSpPr>
          <p:cNvPr id="1574435598" name="Text 5"/>
          <p:cNvSpPr txBox="1"/>
          <p:nvPr/>
        </p:nvSpPr>
        <p:spPr bwMode="auto">
          <a:xfrm>
            <a:off x="1051560" y="1600200"/>
            <a:ext cx="4937760" cy="274320"/>
          </a:xfrm>
          <a:prstGeom prst="rect">
            <a:avLst/>
          </a:prstGeom>
          <a:noFill/>
          <a:ln/>
        </p:spPr>
        <p:txBody>
          <a:bodyPr wrap="square" lIns="0" tIns="0" rIns="0" bIns="0" rtlCol="0" anchor="ctr"/>
          <a:lstStyle/>
          <a:p>
            <a:pPr marL="0" indent="0">
              <a:buNone/>
              <a:defRPr/>
            </a:pPr>
            <a:r>
              <a:rPr lang="en-US" sz="1700" b="1">
                <a:solidFill>
                  <a:srgbClr val="0B2545"/>
                </a:solidFill>
                <a:latin typeface="Cambria"/>
                <a:ea typeface="Cambria"/>
                <a:cs typeface="Cambria"/>
              </a:rPr>
              <a:t>Conductivity probe</a:t>
            </a:r>
            <a:endParaRPr lang="en-US" sz="1700"/>
          </a:p>
        </p:txBody>
      </p:sp>
      <p:sp>
        <p:nvSpPr>
          <p:cNvPr id="877553300" name="Text 6"/>
          <p:cNvSpPr txBox="1"/>
          <p:nvPr/>
        </p:nvSpPr>
        <p:spPr bwMode="auto">
          <a:xfrm>
            <a:off x="1051560" y="1892808"/>
            <a:ext cx="4937760" cy="320040"/>
          </a:xfrm>
          <a:prstGeom prst="rect">
            <a:avLst/>
          </a:prstGeom>
          <a:noFill/>
          <a:ln/>
        </p:spPr>
        <p:txBody>
          <a:bodyPr wrap="square" lIns="0" tIns="0" rIns="0" bIns="0" rtlCol="0" anchor="ctr"/>
          <a:lstStyle/>
          <a:p>
            <a:pPr marL="0" indent="0">
              <a:buNone/>
              <a:defRPr/>
            </a:pPr>
            <a:r>
              <a:rPr lang="en-US" sz="1300">
                <a:solidFill>
                  <a:srgbClr val="4A5B70"/>
                </a:solidFill>
                <a:latin typeface="Calibri"/>
                <a:ea typeface="Calibri"/>
                <a:cs typeface="Calibri"/>
              </a:rPr>
              <a:t>Acid and dissolved metals make water conduct</a:t>
            </a:r>
            <a:endParaRPr lang="en-US" sz="1300"/>
          </a:p>
        </p:txBody>
      </p:sp>
      <p:sp>
        <p:nvSpPr>
          <p:cNvPr id="313694248" name="Shape 7"/>
          <p:cNvSpPr/>
          <p:nvPr/>
        </p:nvSpPr>
        <p:spPr bwMode="auto">
          <a:xfrm>
            <a:off x="594360" y="2459735"/>
            <a:ext cx="292608" cy="292608"/>
          </a:xfrm>
          <a:prstGeom prst="ellipse">
            <a:avLst/>
          </a:prstGeom>
          <a:solidFill>
            <a:srgbClr val="1B5FA8"/>
          </a:solidFill>
          <a:ln w="12700">
            <a:solidFill>
              <a:srgbClr val="1B5FA8"/>
            </a:solidFill>
            <a:prstDash val="solid"/>
          </a:ln>
        </p:spPr>
      </p:sp>
      <p:sp>
        <p:nvSpPr>
          <p:cNvPr id="1194795450" name="Text 8"/>
          <p:cNvSpPr txBox="1"/>
          <p:nvPr/>
        </p:nvSpPr>
        <p:spPr bwMode="auto">
          <a:xfrm>
            <a:off x="594360" y="2468880"/>
            <a:ext cx="292608" cy="274320"/>
          </a:xfrm>
          <a:prstGeom prst="rect">
            <a:avLst/>
          </a:prstGeom>
          <a:noFill/>
          <a:ln/>
        </p:spPr>
        <p:txBody>
          <a:bodyPr wrap="square" lIns="0" tIns="0" rIns="0" bIns="0" rtlCol="0" anchor="ctr"/>
          <a:lstStyle/>
          <a:p>
            <a:pPr marL="0" indent="0" algn="ctr">
              <a:buNone/>
              <a:defRPr/>
            </a:pPr>
            <a:r>
              <a:rPr lang="en-US" sz="1200" b="1">
                <a:solidFill>
                  <a:srgbClr val="FFFFFF"/>
                </a:solidFill>
                <a:latin typeface="Calibri"/>
                <a:ea typeface="Calibri"/>
                <a:cs typeface="Calibri"/>
              </a:rPr>
              <a:t>2</a:t>
            </a:r>
            <a:endParaRPr lang="en-US" sz="1200"/>
          </a:p>
        </p:txBody>
      </p:sp>
      <p:sp>
        <p:nvSpPr>
          <p:cNvPr id="677363217" name="Text 9"/>
          <p:cNvSpPr txBox="1"/>
          <p:nvPr/>
        </p:nvSpPr>
        <p:spPr bwMode="auto">
          <a:xfrm>
            <a:off x="1051560" y="2386584"/>
            <a:ext cx="4937760" cy="274320"/>
          </a:xfrm>
          <a:prstGeom prst="rect">
            <a:avLst/>
          </a:prstGeom>
          <a:noFill/>
          <a:ln/>
        </p:spPr>
        <p:txBody>
          <a:bodyPr wrap="square" lIns="0" tIns="0" rIns="0" bIns="0" rtlCol="0" anchor="ctr"/>
          <a:lstStyle/>
          <a:p>
            <a:pPr marL="0" indent="0">
              <a:buNone/>
              <a:defRPr/>
            </a:pPr>
            <a:r>
              <a:rPr lang="en-US" sz="1700" b="1">
                <a:solidFill>
                  <a:srgbClr val="0B2545"/>
                </a:solidFill>
                <a:latin typeface="Cambria"/>
                <a:ea typeface="Cambria"/>
                <a:cs typeface="Cambria"/>
              </a:rPr>
              <a:t>Servo valve</a:t>
            </a:r>
            <a:endParaRPr lang="en-US" sz="1700"/>
          </a:p>
        </p:txBody>
      </p:sp>
      <p:sp>
        <p:nvSpPr>
          <p:cNvPr id="714299193" name="Text 10"/>
          <p:cNvSpPr txBox="1"/>
          <p:nvPr/>
        </p:nvSpPr>
        <p:spPr bwMode="auto">
          <a:xfrm>
            <a:off x="1051560" y="2679192"/>
            <a:ext cx="4937760" cy="320040"/>
          </a:xfrm>
          <a:prstGeom prst="rect">
            <a:avLst/>
          </a:prstGeom>
          <a:noFill/>
          <a:ln/>
        </p:spPr>
        <p:txBody>
          <a:bodyPr wrap="square" lIns="0" tIns="0" rIns="0" bIns="0" rtlCol="0" anchor="ctr"/>
          <a:lstStyle/>
          <a:p>
            <a:pPr marL="0" indent="0">
              <a:buNone/>
              <a:defRPr/>
            </a:pPr>
            <a:r>
              <a:rPr lang="en-US" sz="1300">
                <a:solidFill>
                  <a:srgbClr val="4A5B70"/>
                </a:solidFill>
                <a:latin typeface="Calibri"/>
                <a:ea typeface="Calibri"/>
                <a:cs typeface="Calibri"/>
              </a:rPr>
              <a:t>Swings water to the river or the treatment tank</a:t>
            </a:r>
            <a:endParaRPr lang="en-US" sz="1300"/>
          </a:p>
        </p:txBody>
      </p:sp>
      <p:sp>
        <p:nvSpPr>
          <p:cNvPr id="1767091480" name="Shape 11"/>
          <p:cNvSpPr/>
          <p:nvPr/>
        </p:nvSpPr>
        <p:spPr bwMode="auto">
          <a:xfrm>
            <a:off x="594360" y="3246120"/>
            <a:ext cx="292608" cy="292608"/>
          </a:xfrm>
          <a:prstGeom prst="ellipse">
            <a:avLst/>
          </a:prstGeom>
          <a:solidFill>
            <a:srgbClr val="1B5FA8"/>
          </a:solidFill>
          <a:ln w="12700">
            <a:solidFill>
              <a:srgbClr val="1B5FA8"/>
            </a:solidFill>
            <a:prstDash val="solid"/>
          </a:ln>
        </p:spPr>
      </p:sp>
      <p:sp>
        <p:nvSpPr>
          <p:cNvPr id="895601764" name="Text 12"/>
          <p:cNvSpPr txBox="1"/>
          <p:nvPr/>
        </p:nvSpPr>
        <p:spPr bwMode="auto">
          <a:xfrm>
            <a:off x="594360" y="3255264"/>
            <a:ext cx="292608" cy="274320"/>
          </a:xfrm>
          <a:prstGeom prst="rect">
            <a:avLst/>
          </a:prstGeom>
          <a:noFill/>
          <a:ln/>
        </p:spPr>
        <p:txBody>
          <a:bodyPr wrap="square" lIns="0" tIns="0" rIns="0" bIns="0" rtlCol="0" anchor="ctr"/>
          <a:lstStyle/>
          <a:p>
            <a:pPr marL="0" indent="0" algn="ctr">
              <a:buNone/>
              <a:defRPr/>
            </a:pPr>
            <a:r>
              <a:rPr lang="en-US" sz="1200" b="1">
                <a:solidFill>
                  <a:srgbClr val="FFFFFF"/>
                </a:solidFill>
                <a:latin typeface="Calibri"/>
                <a:ea typeface="Calibri"/>
                <a:cs typeface="Calibri"/>
              </a:rPr>
              <a:t>3</a:t>
            </a:r>
            <a:endParaRPr lang="en-US" sz="1200"/>
          </a:p>
        </p:txBody>
      </p:sp>
      <p:sp>
        <p:nvSpPr>
          <p:cNvPr id="1315056155" name="Text 13"/>
          <p:cNvSpPr txBox="1"/>
          <p:nvPr/>
        </p:nvSpPr>
        <p:spPr bwMode="auto">
          <a:xfrm>
            <a:off x="1051560" y="3172968"/>
            <a:ext cx="4937760" cy="274320"/>
          </a:xfrm>
          <a:prstGeom prst="rect">
            <a:avLst/>
          </a:prstGeom>
          <a:noFill/>
          <a:ln/>
        </p:spPr>
        <p:txBody>
          <a:bodyPr wrap="square" lIns="0" tIns="0" rIns="0" bIns="0" rtlCol="0" anchor="ctr"/>
          <a:lstStyle/>
          <a:p>
            <a:pPr marL="0" indent="0">
              <a:buNone/>
              <a:defRPr/>
            </a:pPr>
            <a:r>
              <a:rPr lang="en-US" sz="1700" b="1">
                <a:solidFill>
                  <a:srgbClr val="0B2545"/>
                </a:solidFill>
                <a:latin typeface="Cambria"/>
                <a:ea typeface="Cambria"/>
                <a:cs typeface="Cambria"/>
              </a:rPr>
              <a:t>Ultrasonic sensor</a:t>
            </a:r>
            <a:endParaRPr lang="en-US" sz="1700"/>
          </a:p>
        </p:txBody>
      </p:sp>
      <p:sp>
        <p:nvSpPr>
          <p:cNvPr id="999248587" name="Text 14"/>
          <p:cNvSpPr txBox="1"/>
          <p:nvPr/>
        </p:nvSpPr>
        <p:spPr bwMode="auto">
          <a:xfrm>
            <a:off x="1051560" y="3465576"/>
            <a:ext cx="4937760" cy="320040"/>
          </a:xfrm>
          <a:prstGeom prst="rect">
            <a:avLst/>
          </a:prstGeom>
          <a:noFill/>
          <a:ln/>
        </p:spPr>
        <p:txBody>
          <a:bodyPr wrap="square" lIns="0" tIns="0" rIns="0" bIns="0" rtlCol="0" anchor="ctr"/>
          <a:lstStyle/>
          <a:p>
            <a:pPr marL="0" indent="0">
              <a:buNone/>
              <a:defRPr/>
            </a:pPr>
            <a:r>
              <a:rPr lang="en-US" sz="1300">
                <a:solidFill>
                  <a:srgbClr val="4A5B70"/>
                </a:solidFill>
                <a:latin typeface="Calibri"/>
                <a:ea typeface="Calibri"/>
                <a:cs typeface="Calibri"/>
              </a:rPr>
              <a:t>Watches the treatment tank level</a:t>
            </a:r>
            <a:endParaRPr lang="en-US" sz="1300"/>
          </a:p>
        </p:txBody>
      </p:sp>
      <p:sp>
        <p:nvSpPr>
          <p:cNvPr id="1685588101" name="Shape 15"/>
          <p:cNvSpPr/>
          <p:nvPr/>
        </p:nvSpPr>
        <p:spPr bwMode="auto">
          <a:xfrm>
            <a:off x="594360" y="4032504"/>
            <a:ext cx="292608" cy="292608"/>
          </a:xfrm>
          <a:prstGeom prst="ellipse">
            <a:avLst/>
          </a:prstGeom>
          <a:solidFill>
            <a:srgbClr val="1B5FA8"/>
          </a:solidFill>
          <a:ln w="12700">
            <a:solidFill>
              <a:srgbClr val="1B5FA8"/>
            </a:solidFill>
            <a:prstDash val="solid"/>
          </a:ln>
        </p:spPr>
      </p:sp>
      <p:sp>
        <p:nvSpPr>
          <p:cNvPr id="2036111323" name="Text 16"/>
          <p:cNvSpPr txBox="1"/>
          <p:nvPr/>
        </p:nvSpPr>
        <p:spPr bwMode="auto">
          <a:xfrm>
            <a:off x="594360" y="4041648"/>
            <a:ext cx="292608" cy="274320"/>
          </a:xfrm>
          <a:prstGeom prst="rect">
            <a:avLst/>
          </a:prstGeom>
          <a:noFill/>
          <a:ln/>
        </p:spPr>
        <p:txBody>
          <a:bodyPr wrap="square" lIns="0" tIns="0" rIns="0" bIns="0" rtlCol="0" anchor="ctr"/>
          <a:lstStyle/>
          <a:p>
            <a:pPr marL="0" indent="0" algn="ctr">
              <a:buNone/>
              <a:defRPr/>
            </a:pPr>
            <a:r>
              <a:rPr lang="en-US" sz="1200" b="1">
                <a:solidFill>
                  <a:srgbClr val="FFFFFF"/>
                </a:solidFill>
                <a:latin typeface="Calibri"/>
                <a:ea typeface="Calibri"/>
                <a:cs typeface="Calibri"/>
              </a:rPr>
              <a:t>4</a:t>
            </a:r>
            <a:endParaRPr lang="en-US" sz="1200"/>
          </a:p>
        </p:txBody>
      </p:sp>
      <p:sp>
        <p:nvSpPr>
          <p:cNvPr id="2117275249" name="Text 17"/>
          <p:cNvSpPr txBox="1"/>
          <p:nvPr/>
        </p:nvSpPr>
        <p:spPr bwMode="auto">
          <a:xfrm>
            <a:off x="1051560" y="3959352"/>
            <a:ext cx="4937760" cy="274320"/>
          </a:xfrm>
          <a:prstGeom prst="rect">
            <a:avLst/>
          </a:prstGeom>
          <a:noFill/>
          <a:ln/>
        </p:spPr>
        <p:txBody>
          <a:bodyPr wrap="square" lIns="0" tIns="0" rIns="0" bIns="0" rtlCol="0" anchor="ctr"/>
          <a:lstStyle/>
          <a:p>
            <a:pPr marL="0" indent="0">
              <a:buNone/>
              <a:defRPr/>
            </a:pPr>
            <a:r>
              <a:rPr lang="en-US" sz="1700" b="1">
                <a:solidFill>
                  <a:srgbClr val="0B2545"/>
                </a:solidFill>
                <a:latin typeface="Cambria"/>
                <a:ea typeface="Cambria"/>
                <a:cs typeface="Cambria"/>
              </a:rPr>
              <a:t>Controller</a:t>
            </a:r>
            <a:endParaRPr lang="en-US" sz="1700"/>
          </a:p>
        </p:txBody>
      </p:sp>
      <p:sp>
        <p:nvSpPr>
          <p:cNvPr id="2066564982" name="Text 18"/>
          <p:cNvSpPr txBox="1"/>
          <p:nvPr/>
        </p:nvSpPr>
        <p:spPr bwMode="auto">
          <a:xfrm>
            <a:off x="1051560" y="4251960"/>
            <a:ext cx="4937760" cy="320040"/>
          </a:xfrm>
          <a:prstGeom prst="rect">
            <a:avLst/>
          </a:prstGeom>
          <a:noFill/>
          <a:ln/>
        </p:spPr>
        <p:txBody>
          <a:bodyPr wrap="square" lIns="0" tIns="0" rIns="0" bIns="0" rtlCol="0" anchor="ctr"/>
          <a:lstStyle/>
          <a:p>
            <a:pPr marL="0" indent="0">
              <a:buNone/>
              <a:defRPr/>
            </a:pPr>
            <a:r>
              <a:rPr lang="en-US" sz="1300">
                <a:solidFill>
                  <a:srgbClr val="4A5B70"/>
                </a:solidFill>
                <a:latin typeface="Calibri"/>
                <a:ea typeface="Calibri"/>
                <a:cs typeface="Calibri"/>
              </a:rPr>
              <a:t>Decides on the board: no internet needed</a:t>
            </a:r>
            <a:endParaRPr lang="en-US" sz="1300"/>
          </a:p>
        </p:txBody>
      </p:sp>
      <p:sp>
        <p:nvSpPr>
          <p:cNvPr id="986192404" name="Shape 19"/>
          <p:cNvSpPr/>
          <p:nvPr/>
        </p:nvSpPr>
        <p:spPr bwMode="auto">
          <a:xfrm>
            <a:off x="594360" y="4818888"/>
            <a:ext cx="292608" cy="292608"/>
          </a:xfrm>
          <a:prstGeom prst="ellipse">
            <a:avLst/>
          </a:prstGeom>
          <a:solidFill>
            <a:srgbClr val="1B5FA8"/>
          </a:solidFill>
          <a:ln w="12700">
            <a:solidFill>
              <a:srgbClr val="1B5FA8"/>
            </a:solidFill>
            <a:prstDash val="solid"/>
          </a:ln>
        </p:spPr>
      </p:sp>
      <p:sp>
        <p:nvSpPr>
          <p:cNvPr id="1558732194" name="Text 20"/>
          <p:cNvSpPr txBox="1"/>
          <p:nvPr/>
        </p:nvSpPr>
        <p:spPr bwMode="auto">
          <a:xfrm>
            <a:off x="594360" y="4828032"/>
            <a:ext cx="292608" cy="274320"/>
          </a:xfrm>
          <a:prstGeom prst="rect">
            <a:avLst/>
          </a:prstGeom>
          <a:noFill/>
          <a:ln/>
        </p:spPr>
        <p:txBody>
          <a:bodyPr wrap="square" lIns="0" tIns="0" rIns="0" bIns="0" rtlCol="0" anchor="ctr"/>
          <a:lstStyle/>
          <a:p>
            <a:pPr marL="0" indent="0" algn="ctr">
              <a:buNone/>
              <a:defRPr/>
            </a:pPr>
            <a:r>
              <a:rPr lang="en-US" sz="1200" b="1">
                <a:solidFill>
                  <a:srgbClr val="FFFFFF"/>
                </a:solidFill>
                <a:latin typeface="Calibri"/>
                <a:ea typeface="Calibri"/>
                <a:cs typeface="Calibri"/>
              </a:rPr>
              <a:t>5</a:t>
            </a:r>
            <a:endParaRPr lang="en-US" sz="1200"/>
          </a:p>
        </p:txBody>
      </p:sp>
      <p:sp>
        <p:nvSpPr>
          <p:cNvPr id="246867730" name="Text 21"/>
          <p:cNvSpPr txBox="1"/>
          <p:nvPr/>
        </p:nvSpPr>
        <p:spPr bwMode="auto">
          <a:xfrm>
            <a:off x="1051560" y="4745736"/>
            <a:ext cx="4937760" cy="274320"/>
          </a:xfrm>
          <a:prstGeom prst="rect">
            <a:avLst/>
          </a:prstGeom>
          <a:noFill/>
          <a:ln/>
        </p:spPr>
        <p:txBody>
          <a:bodyPr wrap="square" lIns="0" tIns="0" rIns="0" bIns="0" rtlCol="0" anchor="ctr"/>
          <a:lstStyle/>
          <a:p>
            <a:pPr marL="0" indent="0">
              <a:buNone/>
              <a:defRPr/>
            </a:pPr>
            <a:r>
              <a:rPr lang="en-US" sz="1700" b="1">
                <a:solidFill>
                  <a:srgbClr val="0B2545"/>
                </a:solidFill>
                <a:latin typeface="Cambria"/>
                <a:ea typeface="Cambria"/>
                <a:cs typeface="Cambria"/>
              </a:rPr>
              <a:t>LED and buzzer</a:t>
            </a:r>
            <a:endParaRPr lang="en-US" sz="1700"/>
          </a:p>
        </p:txBody>
      </p:sp>
      <p:sp>
        <p:nvSpPr>
          <p:cNvPr id="119107453" name="Text 22"/>
          <p:cNvSpPr txBox="1"/>
          <p:nvPr/>
        </p:nvSpPr>
        <p:spPr bwMode="auto">
          <a:xfrm>
            <a:off x="1051560" y="5038344"/>
            <a:ext cx="4937760" cy="320040"/>
          </a:xfrm>
          <a:prstGeom prst="rect">
            <a:avLst/>
          </a:prstGeom>
          <a:noFill/>
          <a:ln/>
        </p:spPr>
        <p:txBody>
          <a:bodyPr wrap="square" lIns="0" tIns="0" rIns="0" bIns="0" rtlCol="0" anchor="ctr"/>
          <a:lstStyle/>
          <a:p>
            <a:pPr marL="0" indent="0">
              <a:buNone/>
              <a:defRPr/>
            </a:pPr>
            <a:r>
              <a:rPr lang="en-US" sz="1300">
                <a:solidFill>
                  <a:srgbClr val="4A5B70"/>
                </a:solidFill>
                <a:latin typeface="Calibri"/>
                <a:ea typeface="Calibri"/>
                <a:cs typeface="Calibri"/>
              </a:rPr>
              <a:t>Local alarm the moment a batch fails</a:t>
            </a:r>
            <a:endParaRPr lang="en-US" sz="1300"/>
          </a:p>
        </p:txBody>
      </p:sp>
      <p:sp>
        <p:nvSpPr>
          <p:cNvPr id="1562904844" name="Shape 23"/>
          <p:cNvSpPr/>
          <p:nvPr/>
        </p:nvSpPr>
        <p:spPr bwMode="auto">
          <a:xfrm>
            <a:off x="548640" y="5532120"/>
            <a:ext cx="11064240" cy="548640"/>
          </a:xfrm>
          <a:prstGeom prst="roundRect">
            <a:avLst>
              <a:gd name="adj" fmla="val 13333"/>
            </a:avLst>
          </a:prstGeom>
          <a:solidFill>
            <a:srgbClr val="0B2545"/>
          </a:solidFill>
          <a:ln w="12700">
            <a:solidFill>
              <a:srgbClr val="0B2545"/>
            </a:solidFill>
            <a:prstDash val="solid"/>
          </a:ln>
        </p:spPr>
      </p:sp>
      <p:sp>
        <p:nvSpPr>
          <p:cNvPr id="740206898" name="Text 24"/>
          <p:cNvSpPr txBox="1"/>
          <p:nvPr/>
        </p:nvSpPr>
        <p:spPr bwMode="auto">
          <a:xfrm>
            <a:off x="868680" y="5632704"/>
            <a:ext cx="10424160" cy="365760"/>
          </a:xfrm>
          <a:prstGeom prst="rect">
            <a:avLst/>
          </a:prstGeom>
          <a:noFill/>
          <a:ln/>
        </p:spPr>
        <p:txBody>
          <a:bodyPr wrap="square" lIns="0" tIns="0" rIns="0" bIns="0" rtlCol="0" anchor="ctr"/>
          <a:lstStyle/>
          <a:p>
            <a:pPr marL="0" indent="0">
              <a:buNone/>
              <a:defRPr/>
            </a:pPr>
            <a:r>
              <a:rPr lang="en-US" sz="1400" b="1">
                <a:solidFill>
                  <a:srgbClr val="FFFFFF"/>
                </a:solidFill>
                <a:latin typeface="Calibri"/>
                <a:ea typeface="Calibri"/>
                <a:cs typeface="Calibri"/>
              </a:rPr>
              <a:t>Fails safe:  sensor dead, no release  ·  tank full, the batch waits  ·  neutraliser empty, nothing leaves</a:t>
            </a:r>
            <a:endParaRPr lang="en-US" sz="1400"/>
          </a:p>
        </p:txBody>
      </p:sp>
      <p:sp>
        <p:nvSpPr>
          <p:cNvPr id="1661773623" name="Text 25"/>
          <p:cNvSpPr txBox="1"/>
          <p:nvPr/>
        </p:nvSpPr>
        <p:spPr bwMode="auto">
          <a:xfrm>
            <a:off x="548640" y="6263640"/>
            <a:ext cx="4572000" cy="274320"/>
          </a:xfrm>
          <a:prstGeom prst="rect">
            <a:avLst/>
          </a:prstGeom>
          <a:noFill/>
          <a:ln/>
        </p:spPr>
        <p:txBody>
          <a:bodyPr wrap="square" lIns="0" tIns="0" rIns="0" bIns="0" rtlCol="0" anchor="ctr"/>
          <a:lstStyle/>
          <a:p>
            <a:pPr marL="0" indent="0">
              <a:buNone/>
              <a:defRPr/>
            </a:pPr>
            <a:r>
              <a:rPr lang="en-US" sz="1000">
                <a:solidFill>
                  <a:srgbClr val="4A5B70"/>
                </a:solidFill>
                <a:latin typeface="Calibri"/>
                <a:ea typeface="Calibri"/>
                <a:cs typeface="Calibri"/>
              </a:rPr>
              <a:t>zMz  |  Kusile WaterGuard</a:t>
            </a:r>
            <a:endParaRPr lang="en-US" sz="1000"/>
          </a:p>
        </p:txBody>
      </p:sp>
      <p:sp>
        <p:nvSpPr>
          <p:cNvPr id="1653979933" name="Text 26"/>
          <p:cNvSpPr txBox="1"/>
          <p:nvPr/>
        </p:nvSpPr>
        <p:spPr bwMode="auto">
          <a:xfrm>
            <a:off x="3291840" y="6263640"/>
            <a:ext cx="6949440" cy="274320"/>
          </a:xfrm>
          <a:prstGeom prst="rect">
            <a:avLst/>
          </a:prstGeom>
          <a:noFill/>
          <a:ln/>
        </p:spPr>
        <p:txBody>
          <a:bodyPr wrap="square" lIns="0" tIns="0" rIns="0" bIns="0" rtlCol="0" anchor="ctr"/>
          <a:lstStyle/>
          <a:p>
            <a:pPr marL="0" indent="0" algn="r">
              <a:buNone/>
              <a:defRPr/>
            </a:pPr>
            <a:r>
              <a:rPr lang="en-US" sz="900">
                <a:solidFill>
                  <a:srgbClr val="4A5B70"/>
                </a:solidFill>
                <a:latin typeface="Calibri"/>
                <a:ea typeface="Calibri"/>
                <a:cs typeface="Calibri"/>
              </a:rPr>
              <a:t>Live demo</a:t>
            </a:r>
            <a:endParaRPr lang="en-US" sz="900"/>
          </a:p>
        </p:txBody>
      </p:sp>
      <p:sp>
        <p:nvSpPr>
          <p:cNvPr id="99275746" name="Shape 27"/>
          <p:cNvSpPr/>
          <p:nvPr/>
        </p:nvSpPr>
        <p:spPr bwMode="auto">
          <a:xfrm>
            <a:off x="10927079" y="6035039"/>
            <a:ext cx="1005840" cy="502920"/>
          </a:xfrm>
          <a:prstGeom prst="roundRect">
            <a:avLst>
              <a:gd name="adj" fmla="val 10909"/>
            </a:avLst>
          </a:prstGeom>
          <a:solidFill>
            <a:srgbClr val="FFFFFF"/>
          </a:solidFill>
          <a:ln w="6350">
            <a:solidFill>
              <a:srgbClr val="D6E3F0"/>
            </a:solidFill>
            <a:prstDash val="solid"/>
          </a:ln>
        </p:spPr>
      </p:sp>
      <p:pic>
        <p:nvPicPr>
          <p:cNvPr id="816799965" name="Image 1" descr="/mnt/user-data/outputs/deckassets/logo.jpg"/>
          <p:cNvPicPr>
            <a:picLocks noChangeAspect="1"/>
          </p:cNvPicPr>
          <p:nvPr/>
        </p:nvPicPr>
        <p:blipFill rotWithShape="1">
          <a:blip r:embed="rId4"/>
          <a:stretch/>
        </p:blipFill>
        <p:spPr bwMode="auto">
          <a:xfrm>
            <a:off x="10991088" y="6135624"/>
            <a:ext cx="877824" cy="30175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3F7FB"/>
        </a:solidFill>
      </p:bgPr>
    </p:bg>
    <p:spTree>
      <p:nvGrpSpPr>
        <p:cNvPr id="1" name=""/>
        <p:cNvGrpSpPr/>
        <p:nvPr/>
      </p:nvGrpSpPr>
      <p:grpSpPr bwMode="auto">
        <a:xfrm>
          <a:off x="0" y="0"/>
          <a:ext cx="0" cy="0"/>
          <a:chOff x="0" y="0"/>
          <a:chExt cx="0" cy="0"/>
        </a:xfrm>
      </p:grpSpPr>
      <p:sp>
        <p:nvSpPr>
          <p:cNvPr id="1513486349" name="Text 0"/>
          <p:cNvSpPr txBox="1"/>
          <p:nvPr/>
        </p:nvSpPr>
        <p:spPr bwMode="auto">
          <a:xfrm>
            <a:off x="548640" y="411480"/>
            <a:ext cx="8229600" cy="274320"/>
          </a:xfrm>
          <a:prstGeom prst="rect">
            <a:avLst/>
          </a:prstGeom>
          <a:noFill/>
          <a:ln/>
        </p:spPr>
        <p:txBody>
          <a:bodyPr wrap="square" lIns="0" tIns="0" rIns="0" bIns="0" rtlCol="0" anchor="ctr"/>
          <a:lstStyle/>
          <a:p>
            <a:pPr marL="0" indent="0">
              <a:buNone/>
              <a:defRPr/>
            </a:pPr>
            <a:r>
              <a:rPr lang="en-US" sz="1200" b="1" spc="200">
                <a:solidFill>
                  <a:srgbClr val="1B5FA8"/>
                </a:solidFill>
                <a:latin typeface="Calibri"/>
                <a:ea typeface="Calibri"/>
                <a:cs typeface="Calibri"/>
              </a:rPr>
              <a:t>COMMERCIALISATION</a:t>
            </a:r>
            <a:endParaRPr lang="en-US" sz="1200"/>
          </a:p>
        </p:txBody>
      </p:sp>
      <p:sp>
        <p:nvSpPr>
          <p:cNvPr id="924375141" name="Text 1"/>
          <p:cNvSpPr txBox="1"/>
          <p:nvPr/>
        </p:nvSpPr>
        <p:spPr bwMode="auto">
          <a:xfrm>
            <a:off x="548640" y="731520"/>
            <a:ext cx="10515600" cy="685800"/>
          </a:xfrm>
          <a:prstGeom prst="rect">
            <a:avLst/>
          </a:prstGeom>
          <a:noFill/>
          <a:ln/>
        </p:spPr>
        <p:txBody>
          <a:bodyPr wrap="square" lIns="0" tIns="0" rIns="0" bIns="0" rtlCol="0" anchor="ctr"/>
          <a:lstStyle/>
          <a:p>
            <a:pPr marL="0" indent="0">
              <a:buNone/>
              <a:defRPr/>
            </a:pPr>
            <a:r>
              <a:rPr lang="en-US" sz="3200" b="1">
                <a:solidFill>
                  <a:srgbClr val="0B2545"/>
                </a:solidFill>
                <a:latin typeface="Cambria"/>
                <a:ea typeface="Cambria"/>
                <a:cs typeface="Cambria"/>
              </a:rPr>
              <a:t>Who pays, how we earn</a:t>
            </a:r>
            <a:endParaRPr lang="en-US" sz="3200"/>
          </a:p>
        </p:txBody>
      </p:sp>
      <p:sp>
        <p:nvSpPr>
          <p:cNvPr id="1112324287" name="Shape 2"/>
          <p:cNvSpPr/>
          <p:nvPr/>
        </p:nvSpPr>
        <p:spPr bwMode="auto">
          <a:xfrm>
            <a:off x="548640" y="1554480"/>
            <a:ext cx="3493008" cy="1234440"/>
          </a:xfrm>
          <a:prstGeom prst="roundRect">
            <a:avLst>
              <a:gd name="adj" fmla="val 4444"/>
            </a:avLst>
          </a:prstGeom>
          <a:solidFill>
            <a:srgbClr val="0B2545"/>
          </a:solidFill>
          <a:ln w="12700">
            <a:solidFill>
              <a:srgbClr val="0B2545"/>
            </a:solidFill>
            <a:prstDash val="solid"/>
          </a:ln>
          <a:effectLst>
            <a:outerShdw blurRad="76200" dist="12700" dir="5400000" sx="100000" sy="100000" kx="0" ky="0" algn="bl" rotWithShape="0">
              <a:srgbClr val="9FB4C7">
                <a:alpha val="25000"/>
              </a:srgbClr>
            </a:outerShdw>
          </a:effectLst>
        </p:spPr>
      </p:sp>
      <p:sp>
        <p:nvSpPr>
          <p:cNvPr id="1982718781" name="Text 3"/>
          <p:cNvSpPr txBox="1"/>
          <p:nvPr/>
        </p:nvSpPr>
        <p:spPr bwMode="auto">
          <a:xfrm>
            <a:off x="749808" y="1691640"/>
            <a:ext cx="3108960" cy="548640"/>
          </a:xfrm>
          <a:prstGeom prst="rect">
            <a:avLst/>
          </a:prstGeom>
          <a:noFill/>
          <a:ln/>
        </p:spPr>
        <p:txBody>
          <a:bodyPr wrap="square" lIns="0" tIns="0" rIns="0" bIns="0" rtlCol="0" anchor="ctr"/>
          <a:lstStyle/>
          <a:p>
            <a:pPr marL="0" indent="0">
              <a:buNone/>
              <a:defRPr/>
            </a:pPr>
            <a:r>
              <a:rPr lang="en-US" sz="2800" b="1">
                <a:solidFill>
                  <a:srgbClr val="5AA9E6"/>
                </a:solidFill>
                <a:latin typeface="Cambria"/>
                <a:ea typeface="Cambria"/>
                <a:cs typeface="Cambria"/>
              </a:rPr>
              <a:t>~R21 000</a:t>
            </a:r>
            <a:endParaRPr lang="en-US" sz="2800"/>
          </a:p>
        </p:txBody>
      </p:sp>
      <p:sp>
        <p:nvSpPr>
          <p:cNvPr id="73820509" name="Text 4"/>
          <p:cNvSpPr txBox="1"/>
          <p:nvPr/>
        </p:nvSpPr>
        <p:spPr bwMode="auto">
          <a:xfrm>
            <a:off x="749808" y="2267712"/>
            <a:ext cx="3108960" cy="411480"/>
          </a:xfrm>
          <a:prstGeom prst="rect">
            <a:avLst/>
          </a:prstGeom>
          <a:noFill/>
          <a:ln/>
        </p:spPr>
        <p:txBody>
          <a:bodyPr wrap="square" lIns="0" tIns="0" rIns="0" bIns="0" rtlCol="0" anchor="ctr"/>
          <a:lstStyle/>
          <a:p>
            <a:pPr marL="0" indent="0">
              <a:buNone/>
              <a:defRPr/>
            </a:pPr>
            <a:r>
              <a:rPr lang="en-US" sz="1200">
                <a:solidFill>
                  <a:srgbClr val="EAF2FA"/>
                </a:solidFill>
                <a:latin typeface="Calibri"/>
                <a:ea typeface="Calibri"/>
                <a:cs typeface="Calibri"/>
              </a:rPr>
              <a:t>One node (range R8,500 – R21,000)</a:t>
            </a:r>
            <a:endParaRPr lang="en-US" sz="1200"/>
          </a:p>
        </p:txBody>
      </p:sp>
      <p:sp>
        <p:nvSpPr>
          <p:cNvPr id="1429634937" name="Shape 5"/>
          <p:cNvSpPr/>
          <p:nvPr/>
        </p:nvSpPr>
        <p:spPr bwMode="auto">
          <a:xfrm>
            <a:off x="4270248" y="1554480"/>
            <a:ext cx="3493008" cy="1234440"/>
          </a:xfrm>
          <a:prstGeom prst="roundRect">
            <a:avLst>
              <a:gd name="adj" fmla="val 4444"/>
            </a:avLst>
          </a:prstGeom>
          <a:solidFill>
            <a:srgbClr val="FFFFFF"/>
          </a:solidFill>
          <a:ln w="12700">
            <a:solidFill>
              <a:srgbClr val="D6E3F0"/>
            </a:solidFill>
            <a:prstDash val="solid"/>
          </a:ln>
          <a:effectLst>
            <a:outerShdw blurRad="76200" dist="12700" dir="5400000" sx="100000" sy="100000" kx="0" ky="0" algn="bl" rotWithShape="0">
              <a:srgbClr val="9FB4C7">
                <a:alpha val="25000"/>
              </a:srgbClr>
            </a:outerShdw>
          </a:effectLst>
        </p:spPr>
      </p:sp>
      <p:sp>
        <p:nvSpPr>
          <p:cNvPr id="1838356220" name="Text 6"/>
          <p:cNvSpPr txBox="1"/>
          <p:nvPr/>
        </p:nvSpPr>
        <p:spPr bwMode="auto">
          <a:xfrm>
            <a:off x="4471416" y="1691640"/>
            <a:ext cx="3108960" cy="548640"/>
          </a:xfrm>
          <a:prstGeom prst="rect">
            <a:avLst/>
          </a:prstGeom>
          <a:noFill/>
          <a:ln/>
        </p:spPr>
        <p:txBody>
          <a:bodyPr wrap="square" lIns="0" tIns="0" rIns="0" bIns="0" rtlCol="0" anchor="ctr"/>
          <a:lstStyle/>
          <a:p>
            <a:pPr marL="0" indent="0">
              <a:buNone/>
              <a:defRPr/>
            </a:pPr>
            <a:r>
              <a:rPr lang="en-US" sz="2800" b="1">
                <a:solidFill>
                  <a:srgbClr val="1B5FA8"/>
                </a:solidFill>
                <a:latin typeface="Cambria"/>
                <a:ea typeface="Cambria"/>
                <a:cs typeface="Cambria"/>
              </a:rPr>
              <a:t>~R300 million</a:t>
            </a:r>
            <a:endParaRPr lang="en-US" sz="2800"/>
          </a:p>
        </p:txBody>
      </p:sp>
      <p:sp>
        <p:nvSpPr>
          <p:cNvPr id="432502123" name="Text 7"/>
          <p:cNvSpPr txBox="1"/>
          <p:nvPr/>
        </p:nvSpPr>
        <p:spPr bwMode="auto">
          <a:xfrm>
            <a:off x="4471416" y="2267712"/>
            <a:ext cx="3108960" cy="411480"/>
          </a:xfrm>
          <a:prstGeom prst="rect">
            <a:avLst/>
          </a:prstGeom>
          <a:noFill/>
          <a:ln/>
        </p:spPr>
        <p:txBody>
          <a:bodyPr wrap="square" lIns="0" tIns="0" rIns="0" bIns="0" rtlCol="0" anchor="ctr"/>
          <a:lstStyle/>
          <a:p>
            <a:pPr marL="0" indent="0">
              <a:buNone/>
              <a:defRPr/>
            </a:pPr>
            <a:r>
              <a:rPr lang="en-US" sz="1200">
                <a:solidFill>
                  <a:srgbClr val="4A5B70"/>
                </a:solidFill>
                <a:latin typeface="Calibri"/>
                <a:ea typeface="Calibri"/>
                <a:cs typeface="Calibri"/>
              </a:rPr>
              <a:t>eMalahleni's original 25 ML/day plant</a:t>
            </a:r>
            <a:endParaRPr lang="en-US" sz="1200"/>
          </a:p>
        </p:txBody>
      </p:sp>
      <p:sp>
        <p:nvSpPr>
          <p:cNvPr id="489995197" name="Shape 8"/>
          <p:cNvSpPr/>
          <p:nvPr/>
        </p:nvSpPr>
        <p:spPr bwMode="auto">
          <a:xfrm>
            <a:off x="7991856" y="1554480"/>
            <a:ext cx="3493008" cy="1234440"/>
          </a:xfrm>
          <a:prstGeom prst="roundRect">
            <a:avLst>
              <a:gd name="adj" fmla="val 4444"/>
            </a:avLst>
          </a:prstGeom>
          <a:solidFill>
            <a:srgbClr val="FFFFFF"/>
          </a:solidFill>
          <a:ln w="12700">
            <a:solidFill>
              <a:srgbClr val="D6E3F0"/>
            </a:solidFill>
            <a:prstDash val="solid"/>
          </a:ln>
          <a:effectLst>
            <a:outerShdw blurRad="76200" dist="12700" dir="5400000" sx="100000" sy="100000" kx="0" ky="0" algn="bl" rotWithShape="0">
              <a:srgbClr val="9FB4C7">
                <a:alpha val="25000"/>
              </a:srgbClr>
            </a:outerShdw>
          </a:effectLst>
        </p:spPr>
      </p:sp>
      <p:sp>
        <p:nvSpPr>
          <p:cNvPr id="140595921" name="Text 9"/>
          <p:cNvSpPr txBox="1"/>
          <p:nvPr/>
        </p:nvSpPr>
        <p:spPr bwMode="auto">
          <a:xfrm>
            <a:off x="8193024" y="1691640"/>
            <a:ext cx="3108960" cy="548640"/>
          </a:xfrm>
          <a:prstGeom prst="rect">
            <a:avLst/>
          </a:prstGeom>
          <a:noFill/>
          <a:ln/>
        </p:spPr>
        <p:txBody>
          <a:bodyPr wrap="square" lIns="0" tIns="0" rIns="0" bIns="0" rtlCol="0" anchor="ctr"/>
          <a:lstStyle/>
          <a:p>
            <a:pPr marL="0" indent="0">
              <a:buNone/>
              <a:defRPr/>
            </a:pPr>
            <a:r>
              <a:rPr lang="en-US" sz="2800" b="1">
                <a:solidFill>
                  <a:srgbClr val="1B5FA8"/>
                </a:solidFill>
                <a:latin typeface="Cambria"/>
                <a:ea typeface="Cambria"/>
                <a:cs typeface="Cambria"/>
              </a:rPr>
              <a:t>~R1 billion</a:t>
            </a:r>
            <a:endParaRPr lang="en-US" sz="2800"/>
          </a:p>
        </p:txBody>
      </p:sp>
      <p:sp>
        <p:nvSpPr>
          <p:cNvPr id="1383464197" name="Text 10"/>
          <p:cNvSpPr txBox="1"/>
          <p:nvPr/>
        </p:nvSpPr>
        <p:spPr bwMode="auto">
          <a:xfrm>
            <a:off x="8193024" y="2267712"/>
            <a:ext cx="3108960" cy="411480"/>
          </a:xfrm>
          <a:prstGeom prst="rect">
            <a:avLst/>
          </a:prstGeom>
          <a:noFill/>
          <a:ln/>
        </p:spPr>
        <p:txBody>
          <a:bodyPr wrap="square" lIns="0" tIns="0" rIns="0" bIns="0" rtlCol="0" anchor="ctr"/>
          <a:lstStyle/>
          <a:p>
            <a:pPr marL="0" indent="0">
              <a:buNone/>
              <a:defRPr/>
            </a:pPr>
            <a:r>
              <a:rPr lang="en-US" sz="1200">
                <a:solidFill>
                  <a:srgbClr val="4A5B70"/>
                </a:solidFill>
                <a:latin typeface="Calibri"/>
                <a:ea typeface="Calibri"/>
                <a:cs typeface="Calibri"/>
              </a:rPr>
              <a:t>Kromdraai response bill</a:t>
            </a:r>
            <a:endParaRPr lang="en-US" sz="1200"/>
          </a:p>
        </p:txBody>
      </p:sp>
      <p:graphicFrame>
        <p:nvGraphicFramePr>
          <p:cNvPr id="122945351" name="Table 0"/>
          <p:cNvGraphicFramePr>
            <a:graphicFrameLocks xmlns:a="http://schemas.openxmlformats.org/drawingml/2006/main" noGrp="1"/>
          </p:cNvGraphicFramePr>
          <p:nvPr/>
        </p:nvGraphicFramePr>
        <p:xfrm rot="0">
          <a:off x="548640" y="3063240"/>
          <a:ext cx="5943600" cy="914400"/>
        </p:xfrm>
        <a:graphic>
          <a:graphicData uri="http://schemas.openxmlformats.org/drawingml/2006/table">
            <a:tbl>
              <a:tblPr firstRow="0" firstCol="0" lastRow="0" lastCol="0" bandRow="0" bandCol="0"/>
              <a:tblGrid>
                <a:gridCol w="2834640"/>
                <a:gridCol w="3108960"/>
              </a:tblGrid>
              <a:tr h="384048">
                <a:tc>
                  <a:txBody>
                    <a:bodyPr/>
                    <a:p>
                      <a:pPr marL="0" indent="0">
                        <a:buNone/>
                        <a:defRPr/>
                      </a:pPr>
                      <a:r>
                        <a:rPr lang="en-US" sz="1200" b="1">
                          <a:solidFill>
                            <a:srgbClr val="FFFFFF"/>
                          </a:solidFill>
                          <a:latin typeface="Calibri"/>
                          <a:ea typeface="Calibri"/>
                          <a:cs typeface="Calibri"/>
                        </a:rPr>
                        <a:t>Who pays</a:t>
                      </a:r>
                      <a:endParaRPr lang="en-US" sz="1200">
                        <a:latin typeface="Calibri"/>
                        <a:ea typeface="Calibri"/>
                        <a:cs typeface="Calibri"/>
                      </a:endParaRPr>
                    </a:p>
                  </a:txBody>
                  <a:tcPr marL="101600" marR="101600" marT="50800" marB="50800" anchor="ctr">
                    <a:lnL w="12700" algn="ctr">
                      <a:solidFill>
                        <a:srgbClr val="D6E3F0"/>
                      </a:solidFill>
                    </a:lnL>
                    <a:lnR w="12700" algn="ctr">
                      <a:solidFill>
                        <a:srgbClr val="D6E3F0"/>
                      </a:solidFill>
                    </a:lnR>
                    <a:lnT w="12700" algn="ctr">
                      <a:solidFill>
                        <a:srgbClr val="D6E3F0"/>
                      </a:solidFill>
                    </a:lnT>
                    <a:lnB w="12700" algn="ctr">
                      <a:solidFill>
                        <a:srgbClr val="D6E3F0"/>
                      </a:solidFill>
                    </a:lnB>
                    <a:solidFill>
                      <a:srgbClr val="0B2545"/>
                    </a:solidFill>
                  </a:tcPr>
                </a:tc>
                <a:tc>
                  <a:txBody>
                    <a:bodyPr/>
                    <a:p>
                      <a:pPr marL="0" indent="0">
                        <a:buNone/>
                        <a:defRPr/>
                      </a:pPr>
                      <a:r>
                        <a:rPr lang="en-US" sz="1200" b="1">
                          <a:solidFill>
                            <a:srgbClr val="FFFFFF"/>
                          </a:solidFill>
                          <a:latin typeface="Calibri"/>
                          <a:ea typeface="Calibri"/>
                          <a:cs typeface="Calibri"/>
                        </a:rPr>
                        <a:t>Why they buy</a:t>
                      </a:r>
                      <a:endParaRPr lang="en-US" sz="1200">
                        <a:latin typeface="Calibri"/>
                        <a:ea typeface="Calibri"/>
                        <a:cs typeface="Calibri"/>
                      </a:endParaRPr>
                    </a:p>
                  </a:txBody>
                  <a:tcPr marL="101600" marR="101600" marT="50800" marB="50800" anchor="ctr">
                    <a:lnL w="12700" algn="ctr">
                      <a:solidFill>
                        <a:srgbClr val="D6E3F0"/>
                      </a:solidFill>
                    </a:lnL>
                    <a:lnR w="12700" algn="ctr">
                      <a:solidFill>
                        <a:srgbClr val="D6E3F0"/>
                      </a:solidFill>
                    </a:lnR>
                    <a:lnT w="12700" algn="ctr">
                      <a:solidFill>
                        <a:srgbClr val="D6E3F0"/>
                      </a:solidFill>
                    </a:lnT>
                    <a:lnB w="12700" algn="ctr">
                      <a:solidFill>
                        <a:srgbClr val="D6E3F0"/>
                      </a:solidFill>
                    </a:lnB>
                    <a:solidFill>
                      <a:srgbClr val="0B2545"/>
                    </a:solidFill>
                  </a:tcPr>
                </a:tc>
              </a:tr>
              <a:tr h="384048">
                <a:tc>
                  <a:txBody>
                    <a:bodyPr/>
                    <a:p>
                      <a:pPr marL="0" indent="0">
                        <a:buNone/>
                        <a:defRPr/>
                      </a:pPr>
                      <a:r>
                        <a:rPr lang="en-US" sz="1200">
                          <a:solidFill>
                            <a:srgbClr val="0E1B2C"/>
                          </a:solidFill>
                          <a:latin typeface="Calibri"/>
                          <a:ea typeface="Calibri"/>
                          <a:cs typeface="Calibri"/>
                        </a:rPr>
                        <a:t>Operating mines</a:t>
                      </a:r>
                      <a:endParaRPr lang="en-US" sz="1200">
                        <a:latin typeface="Calibri"/>
                        <a:ea typeface="Calibri"/>
                        <a:cs typeface="Calibri"/>
                      </a:endParaRPr>
                    </a:p>
                  </a:txBody>
                  <a:tcPr marL="101600" marR="101600" marT="50800" marB="50800" anchor="ctr">
                    <a:lnL w="12700" algn="ctr">
                      <a:solidFill>
                        <a:srgbClr val="D6E3F0"/>
                      </a:solidFill>
                    </a:lnL>
                    <a:lnR w="12700" algn="ctr">
                      <a:solidFill>
                        <a:srgbClr val="D6E3F0"/>
                      </a:solidFill>
                    </a:lnR>
                    <a:lnT w="12700" algn="ctr">
                      <a:solidFill>
                        <a:srgbClr val="D6E3F0"/>
                      </a:solidFill>
                    </a:lnT>
                    <a:lnB w="12700" algn="ctr">
                      <a:solidFill>
                        <a:srgbClr val="D6E3F0"/>
                      </a:solidFill>
                    </a:lnB>
                    <a:solidFill>
                      <a:srgbClr val="FFFFFF"/>
                    </a:solidFill>
                  </a:tcPr>
                </a:tc>
                <a:tc>
                  <a:txBody>
                    <a:bodyPr/>
                    <a:p>
                      <a:pPr marL="0" indent="0">
                        <a:buNone/>
                        <a:defRPr/>
                      </a:pPr>
                      <a:r>
                        <a:rPr lang="en-US" sz="1200">
                          <a:solidFill>
                            <a:srgbClr val="0E1B2C"/>
                          </a:solidFill>
                          <a:latin typeface="Calibri"/>
                          <a:ea typeface="Calibri"/>
                          <a:cs typeface="Calibri"/>
                        </a:rPr>
                        <a:t>Proof of compliance</a:t>
                      </a:r>
                      <a:endParaRPr lang="en-US" sz="1200">
                        <a:latin typeface="Calibri"/>
                        <a:ea typeface="Calibri"/>
                        <a:cs typeface="Calibri"/>
                      </a:endParaRPr>
                    </a:p>
                  </a:txBody>
                  <a:tcPr marL="101600" marR="101600" marT="50800" marB="50800" anchor="ctr">
                    <a:lnL w="12700" algn="ctr">
                      <a:solidFill>
                        <a:srgbClr val="D6E3F0"/>
                      </a:solidFill>
                    </a:lnL>
                    <a:lnR w="12700" algn="ctr">
                      <a:solidFill>
                        <a:srgbClr val="D6E3F0"/>
                      </a:solidFill>
                    </a:lnR>
                    <a:lnT w="12700" algn="ctr">
                      <a:solidFill>
                        <a:srgbClr val="D6E3F0"/>
                      </a:solidFill>
                    </a:lnT>
                    <a:lnB w="12700" algn="ctr">
                      <a:solidFill>
                        <a:srgbClr val="D6E3F0"/>
                      </a:solidFill>
                    </a:lnB>
                    <a:solidFill>
                      <a:srgbClr val="FFFFFF"/>
                    </a:solidFill>
                  </a:tcPr>
                </a:tc>
              </a:tr>
              <a:tr h="384048">
                <a:tc>
                  <a:txBody>
                    <a:bodyPr/>
                    <a:p>
                      <a:pPr marL="0" indent="0">
                        <a:buNone/>
                        <a:defRPr/>
                      </a:pPr>
                      <a:r>
                        <a:rPr lang="en-US" sz="1200">
                          <a:solidFill>
                            <a:srgbClr val="0E1B2C"/>
                          </a:solidFill>
                          <a:latin typeface="Calibri"/>
                          <a:ea typeface="Calibri"/>
                          <a:cs typeface="Calibri"/>
                        </a:rPr>
                        <a:t>Closed mines</a:t>
                      </a:r>
                      <a:endParaRPr lang="en-US" sz="1200">
                        <a:latin typeface="Calibri"/>
                        <a:ea typeface="Calibri"/>
                        <a:cs typeface="Calibri"/>
                      </a:endParaRPr>
                    </a:p>
                  </a:txBody>
                  <a:tcPr marL="101600" marR="101600" marT="50800" marB="50800" anchor="ctr">
                    <a:lnL w="12700" algn="ctr">
                      <a:solidFill>
                        <a:srgbClr val="D6E3F0"/>
                      </a:solidFill>
                    </a:lnL>
                    <a:lnR w="12700" algn="ctr">
                      <a:solidFill>
                        <a:srgbClr val="D6E3F0"/>
                      </a:solidFill>
                    </a:lnR>
                    <a:lnT w="12700" algn="ctr">
                      <a:solidFill>
                        <a:srgbClr val="D6E3F0"/>
                      </a:solidFill>
                    </a:lnT>
                    <a:lnB w="12700" algn="ctr">
                      <a:solidFill>
                        <a:srgbClr val="D6E3F0"/>
                      </a:solidFill>
                    </a:lnB>
                    <a:solidFill>
                      <a:srgbClr val="FFFFFF"/>
                    </a:solidFill>
                  </a:tcPr>
                </a:tc>
                <a:tc>
                  <a:txBody>
                    <a:bodyPr/>
                    <a:p>
                      <a:pPr marL="0" indent="0">
                        <a:buNone/>
                        <a:defRPr/>
                      </a:pPr>
                      <a:r>
                        <a:rPr lang="en-US" sz="1200">
                          <a:solidFill>
                            <a:srgbClr val="0E1B2C"/>
                          </a:solidFill>
                          <a:latin typeface="Calibri"/>
                          <a:ea typeface="Calibri"/>
                          <a:cs typeface="Calibri"/>
                        </a:rPr>
                        <a:t>Duty continues after closure</a:t>
                      </a:r>
                      <a:endParaRPr lang="en-US" sz="1200">
                        <a:latin typeface="Calibri"/>
                        <a:ea typeface="Calibri"/>
                        <a:cs typeface="Calibri"/>
                      </a:endParaRPr>
                    </a:p>
                  </a:txBody>
                  <a:tcPr marL="101600" marR="101600" marT="50800" marB="50800" anchor="ctr">
                    <a:lnL w="12700" algn="ctr">
                      <a:solidFill>
                        <a:srgbClr val="D6E3F0"/>
                      </a:solidFill>
                    </a:lnL>
                    <a:lnR w="12700" algn="ctr">
                      <a:solidFill>
                        <a:srgbClr val="D6E3F0"/>
                      </a:solidFill>
                    </a:lnR>
                    <a:lnT w="12700" algn="ctr">
                      <a:solidFill>
                        <a:srgbClr val="D6E3F0"/>
                      </a:solidFill>
                    </a:lnT>
                    <a:lnB w="12700" algn="ctr">
                      <a:solidFill>
                        <a:srgbClr val="D6E3F0"/>
                      </a:solidFill>
                    </a:lnB>
                    <a:solidFill>
                      <a:srgbClr val="FFFFFF"/>
                    </a:solidFill>
                  </a:tcPr>
                </a:tc>
              </a:tr>
              <a:tr h="384048">
                <a:tc>
                  <a:txBody>
                    <a:bodyPr/>
                    <a:p>
                      <a:pPr marL="0" indent="0">
                        <a:buNone/>
                        <a:defRPr/>
                      </a:pPr>
                      <a:r>
                        <a:rPr lang="en-US" sz="1200">
                          <a:solidFill>
                            <a:srgbClr val="0E1B2C"/>
                          </a:solidFill>
                          <a:latin typeface="Calibri"/>
                          <a:ea typeface="Calibri"/>
                          <a:cs typeface="Calibri"/>
                        </a:rPr>
                        <a:t>Treatment operators</a:t>
                      </a:r>
                      <a:endParaRPr lang="en-US" sz="1200">
                        <a:latin typeface="Calibri"/>
                        <a:ea typeface="Calibri"/>
                        <a:cs typeface="Calibri"/>
                      </a:endParaRPr>
                    </a:p>
                  </a:txBody>
                  <a:tcPr marL="101600" marR="101600" marT="50800" marB="50800" anchor="ctr">
                    <a:lnL w="12700" algn="ctr">
                      <a:solidFill>
                        <a:srgbClr val="D6E3F0"/>
                      </a:solidFill>
                    </a:lnL>
                    <a:lnR w="12700" algn="ctr">
                      <a:solidFill>
                        <a:srgbClr val="D6E3F0"/>
                      </a:solidFill>
                    </a:lnR>
                    <a:lnT w="12700" algn="ctr">
                      <a:solidFill>
                        <a:srgbClr val="D6E3F0"/>
                      </a:solidFill>
                    </a:lnT>
                    <a:lnB w="12700" algn="ctr">
                      <a:solidFill>
                        <a:srgbClr val="D6E3F0"/>
                      </a:solidFill>
                    </a:lnB>
                    <a:solidFill>
                      <a:srgbClr val="FFFFFF"/>
                    </a:solidFill>
                  </a:tcPr>
                </a:tc>
                <a:tc>
                  <a:txBody>
                    <a:bodyPr/>
                    <a:p>
                      <a:pPr marL="0" indent="0">
                        <a:buNone/>
                        <a:defRPr/>
                      </a:pPr>
                      <a:r>
                        <a:rPr lang="en-US" sz="1200">
                          <a:solidFill>
                            <a:srgbClr val="0E1B2C"/>
                          </a:solidFill>
                          <a:latin typeface="Calibri"/>
                          <a:ea typeface="Calibri"/>
                          <a:cs typeface="Calibri"/>
                        </a:rPr>
                        <a:t>Nodes at plant outlets</a:t>
                      </a:r>
                      <a:endParaRPr lang="en-US" sz="1200">
                        <a:latin typeface="Calibri"/>
                        <a:ea typeface="Calibri"/>
                        <a:cs typeface="Calibri"/>
                      </a:endParaRPr>
                    </a:p>
                  </a:txBody>
                  <a:tcPr marL="101600" marR="101600" marT="50800" marB="50800" anchor="ctr">
                    <a:lnL w="12700" algn="ctr">
                      <a:solidFill>
                        <a:srgbClr val="D6E3F0"/>
                      </a:solidFill>
                    </a:lnL>
                    <a:lnR w="12700" algn="ctr">
                      <a:solidFill>
                        <a:srgbClr val="D6E3F0"/>
                      </a:solidFill>
                    </a:lnR>
                    <a:lnT w="12700" algn="ctr">
                      <a:solidFill>
                        <a:srgbClr val="D6E3F0"/>
                      </a:solidFill>
                    </a:lnT>
                    <a:lnB w="12700" algn="ctr">
                      <a:solidFill>
                        <a:srgbClr val="D6E3F0"/>
                      </a:solidFill>
                    </a:lnB>
                    <a:solidFill>
                      <a:srgbClr val="FFFFFF"/>
                    </a:solidFill>
                  </a:tcPr>
                </a:tc>
              </a:tr>
              <a:tr h="384048">
                <a:tc>
                  <a:txBody>
                    <a:bodyPr/>
                    <a:p>
                      <a:pPr marL="0" indent="0">
                        <a:buNone/>
                        <a:defRPr/>
                      </a:pPr>
                      <a:r>
                        <a:rPr lang="en-US" sz="1200">
                          <a:solidFill>
                            <a:srgbClr val="0E1B2C"/>
                          </a:solidFill>
                          <a:latin typeface="Calibri"/>
                          <a:ea typeface="Calibri"/>
                          <a:cs typeface="Calibri"/>
                        </a:rPr>
                        <a:t>Municipalities, water boards</a:t>
                      </a:r>
                      <a:endParaRPr lang="en-US" sz="1200">
                        <a:latin typeface="Calibri"/>
                        <a:ea typeface="Calibri"/>
                        <a:cs typeface="Calibri"/>
                      </a:endParaRPr>
                    </a:p>
                  </a:txBody>
                  <a:tcPr marL="101600" marR="101600" marT="50800" marB="50800" anchor="ctr">
                    <a:lnL w="12700" algn="ctr">
                      <a:solidFill>
                        <a:srgbClr val="D6E3F0"/>
                      </a:solidFill>
                    </a:lnL>
                    <a:lnR w="12700" algn="ctr">
                      <a:solidFill>
                        <a:srgbClr val="D6E3F0"/>
                      </a:solidFill>
                    </a:lnR>
                    <a:lnT w="12700" algn="ctr">
                      <a:solidFill>
                        <a:srgbClr val="D6E3F0"/>
                      </a:solidFill>
                    </a:lnT>
                    <a:lnB w="12700" algn="ctr">
                      <a:solidFill>
                        <a:srgbClr val="D6E3F0"/>
                      </a:solidFill>
                    </a:lnB>
                    <a:solidFill>
                      <a:srgbClr val="FFFFFF"/>
                    </a:solidFill>
                  </a:tcPr>
                </a:tc>
                <a:tc>
                  <a:txBody>
                    <a:bodyPr/>
                    <a:p>
                      <a:pPr marL="0" indent="0">
                        <a:buNone/>
                        <a:defRPr/>
                      </a:pPr>
                      <a:r>
                        <a:rPr lang="en-US" sz="1200">
                          <a:solidFill>
                            <a:srgbClr val="0E1B2C"/>
                          </a:solidFill>
                          <a:latin typeface="Calibri"/>
                          <a:ea typeface="Calibri"/>
                          <a:cs typeface="Calibri"/>
                        </a:rPr>
                        <a:t>Early warning at intakes</a:t>
                      </a:r>
                      <a:endParaRPr lang="en-US" sz="1200">
                        <a:latin typeface="Calibri"/>
                        <a:ea typeface="Calibri"/>
                        <a:cs typeface="Calibri"/>
                      </a:endParaRPr>
                    </a:p>
                  </a:txBody>
                  <a:tcPr marL="101600" marR="101600" marT="50800" marB="50800" anchor="ctr">
                    <a:lnL w="12700" algn="ctr">
                      <a:solidFill>
                        <a:srgbClr val="D6E3F0"/>
                      </a:solidFill>
                    </a:lnL>
                    <a:lnR w="12700" algn="ctr">
                      <a:solidFill>
                        <a:srgbClr val="D6E3F0"/>
                      </a:solidFill>
                    </a:lnR>
                    <a:lnT w="12700" algn="ctr">
                      <a:solidFill>
                        <a:srgbClr val="D6E3F0"/>
                      </a:solidFill>
                    </a:lnT>
                    <a:lnB w="12700" algn="ctr">
                      <a:solidFill>
                        <a:srgbClr val="D6E3F0"/>
                      </a:solidFill>
                    </a:lnB>
                    <a:solidFill>
                      <a:srgbClr val="FFFFFF"/>
                    </a:solidFill>
                  </a:tcPr>
                </a:tc>
              </a:tr>
            </a:tbl>
          </a:graphicData>
        </a:graphic>
      </p:graphicFrame>
      <p:sp>
        <p:nvSpPr>
          <p:cNvPr id="1362965803" name="Text 11"/>
          <p:cNvSpPr txBox="1"/>
          <p:nvPr/>
        </p:nvSpPr>
        <p:spPr bwMode="auto">
          <a:xfrm>
            <a:off x="548640" y="5074920"/>
            <a:ext cx="5943600" cy="365760"/>
          </a:xfrm>
          <a:prstGeom prst="rect">
            <a:avLst/>
          </a:prstGeom>
          <a:noFill/>
          <a:ln/>
        </p:spPr>
        <p:txBody>
          <a:bodyPr wrap="square" lIns="0" tIns="0" rIns="0" bIns="0" rtlCol="0" anchor="ctr"/>
          <a:lstStyle/>
          <a:p>
            <a:pPr marL="0" indent="0">
              <a:buNone/>
              <a:defRPr/>
            </a:pPr>
            <a:r>
              <a:rPr lang="en-US" sz="1200" i="1">
                <a:solidFill>
                  <a:srgbClr val="4A5B70"/>
                </a:solidFill>
                <a:latin typeface="Calibri"/>
                <a:ea typeface="Calibri"/>
                <a:cs typeface="Calibri"/>
              </a:rPr>
              <a:t>Legal driver: GN 704 requires mines to keep polluted water out of rivers.</a:t>
            </a:r>
            <a:endParaRPr lang="en-US" sz="1200"/>
          </a:p>
        </p:txBody>
      </p:sp>
      <p:sp>
        <p:nvSpPr>
          <p:cNvPr id="959777265" name="Shape 12"/>
          <p:cNvSpPr/>
          <p:nvPr/>
        </p:nvSpPr>
        <p:spPr bwMode="auto">
          <a:xfrm>
            <a:off x="6858000" y="3063240"/>
            <a:ext cx="4754880" cy="1920240"/>
          </a:xfrm>
          <a:prstGeom prst="roundRect">
            <a:avLst>
              <a:gd name="adj" fmla="val 3810"/>
            </a:avLst>
          </a:prstGeom>
          <a:solidFill>
            <a:srgbClr val="FFFFFF"/>
          </a:solidFill>
          <a:ln w="12700">
            <a:solidFill>
              <a:srgbClr val="D6E3F0"/>
            </a:solidFill>
            <a:prstDash val="solid"/>
          </a:ln>
        </p:spPr>
      </p:sp>
      <p:sp>
        <p:nvSpPr>
          <p:cNvPr id="1282179344" name="Text 13"/>
          <p:cNvSpPr txBox="1"/>
          <p:nvPr/>
        </p:nvSpPr>
        <p:spPr bwMode="auto">
          <a:xfrm>
            <a:off x="7132320" y="3218688"/>
            <a:ext cx="4206240" cy="320040"/>
          </a:xfrm>
          <a:prstGeom prst="rect">
            <a:avLst/>
          </a:prstGeom>
          <a:noFill/>
          <a:ln/>
        </p:spPr>
        <p:txBody>
          <a:bodyPr wrap="square" lIns="0" tIns="0" rIns="0" bIns="0" rtlCol="0" anchor="ctr"/>
          <a:lstStyle/>
          <a:p>
            <a:pPr marL="0" indent="0">
              <a:buNone/>
              <a:defRPr/>
            </a:pPr>
            <a:r>
              <a:rPr lang="en-US" sz="1700" b="1">
                <a:solidFill>
                  <a:srgbClr val="0B2545"/>
                </a:solidFill>
                <a:latin typeface="Cambria"/>
                <a:ea typeface="Cambria"/>
                <a:cs typeface="Cambria"/>
              </a:rPr>
              <a:t>WaterGuard as a Service</a:t>
            </a:r>
            <a:endParaRPr lang="en-US" sz="1700"/>
          </a:p>
        </p:txBody>
      </p:sp>
      <p:sp>
        <p:nvSpPr>
          <p:cNvPr id="468506307" name="Text 14"/>
          <p:cNvSpPr txBox="1"/>
          <p:nvPr/>
        </p:nvSpPr>
        <p:spPr bwMode="auto">
          <a:xfrm>
            <a:off x="7132320" y="3611880"/>
            <a:ext cx="4206240" cy="1280160"/>
          </a:xfrm>
          <a:prstGeom prst="rect">
            <a:avLst/>
          </a:prstGeom>
          <a:noFill/>
          <a:ln/>
        </p:spPr>
        <p:txBody>
          <a:bodyPr wrap="square" lIns="0" tIns="0" rIns="0" bIns="0" rtlCol="0" anchor="ctr"/>
          <a:lstStyle/>
          <a:p>
            <a:pPr marL="342900" indent="-342900">
              <a:lnSpc>
                <a:spcPts val="1700"/>
              </a:lnSpc>
              <a:spcAft>
                <a:spcPts val="600"/>
              </a:spcAft>
              <a:buSzPct val="100000"/>
              <a:buChar char="•"/>
              <a:defRPr/>
            </a:pPr>
            <a:r>
              <a:rPr lang="en-US" sz="1300">
                <a:solidFill>
                  <a:srgbClr val="0E1B2C"/>
                </a:solidFill>
                <a:latin typeface="Calibri"/>
                <a:ea typeface="Calibri"/>
                <a:cs typeface="Calibri"/>
              </a:rPr>
              <a:t>Once-off: hardware and installation</a:t>
            </a:r>
            <a:endParaRPr lang="en-US" sz="1300"/>
          </a:p>
          <a:p>
            <a:pPr marL="342900" indent="-342900">
              <a:lnSpc>
                <a:spcPts val="1700"/>
              </a:lnSpc>
              <a:spcAft>
                <a:spcPts val="600"/>
              </a:spcAft>
              <a:buSzPct val="100000"/>
              <a:buChar char="•"/>
              <a:defRPr/>
            </a:pPr>
            <a:r>
              <a:rPr lang="en-US" sz="1300">
                <a:solidFill>
                  <a:srgbClr val="0E1B2C"/>
                </a:solidFill>
                <a:latin typeface="Calibri"/>
                <a:ea typeface="Calibri"/>
                <a:cs typeface="Calibri"/>
              </a:rPr>
              <a:t>Monthly: monitoring and dashboard</a:t>
            </a:r>
            <a:endParaRPr lang="en-US" sz="1300"/>
          </a:p>
          <a:p>
            <a:pPr marL="342900" indent="-342900">
              <a:lnSpc>
                <a:spcPts val="1700"/>
              </a:lnSpc>
              <a:spcAft>
                <a:spcPts val="600"/>
              </a:spcAft>
              <a:buSzPct val="100000"/>
              <a:buChar char="•"/>
              <a:defRPr/>
            </a:pPr>
            <a:r>
              <a:rPr lang="en-US" sz="1300">
                <a:solidFill>
                  <a:srgbClr val="0E1B2C"/>
                </a:solidFill>
                <a:latin typeface="Calibri"/>
                <a:ea typeface="Calibri"/>
                <a:cs typeface="Calibri"/>
              </a:rPr>
              <a:t>Ongoing: service, sensors, neutraliser, reports</a:t>
            </a:r>
            <a:endParaRPr lang="en-US" sz="1300"/>
          </a:p>
        </p:txBody>
      </p:sp>
      <p:sp>
        <p:nvSpPr>
          <p:cNvPr id="353475350" name="Shape 15"/>
          <p:cNvSpPr/>
          <p:nvPr/>
        </p:nvSpPr>
        <p:spPr bwMode="auto">
          <a:xfrm>
            <a:off x="6858000" y="5120640"/>
            <a:ext cx="4754880" cy="685800"/>
          </a:xfrm>
          <a:prstGeom prst="roundRect">
            <a:avLst>
              <a:gd name="adj" fmla="val 8000"/>
            </a:avLst>
          </a:prstGeom>
          <a:solidFill>
            <a:srgbClr val="1B5FA8"/>
          </a:solidFill>
          <a:ln w="12700">
            <a:solidFill>
              <a:srgbClr val="1B5FA8"/>
            </a:solidFill>
            <a:prstDash val="solid"/>
          </a:ln>
        </p:spPr>
      </p:sp>
      <p:sp>
        <p:nvSpPr>
          <p:cNvPr id="2059324096" name="Text 16"/>
          <p:cNvSpPr txBox="1"/>
          <p:nvPr/>
        </p:nvSpPr>
        <p:spPr bwMode="auto">
          <a:xfrm>
            <a:off x="7040880" y="5257800"/>
            <a:ext cx="4389120" cy="457200"/>
          </a:xfrm>
          <a:prstGeom prst="rect">
            <a:avLst/>
          </a:prstGeom>
          <a:noFill/>
          <a:ln/>
        </p:spPr>
        <p:txBody>
          <a:bodyPr wrap="square" lIns="0" tIns="0" rIns="0" bIns="0" rtlCol="0" anchor="ctr"/>
          <a:lstStyle/>
          <a:p>
            <a:pPr marL="0" indent="0">
              <a:buNone/>
              <a:defRPr/>
            </a:pPr>
            <a:r>
              <a:rPr lang="en-US" sz="1200" b="1">
                <a:solidFill>
                  <a:srgbClr val="FFFFFF"/>
                </a:solidFill>
                <a:latin typeface="Calibri"/>
                <a:ea typeface="Calibri"/>
                <a:cs typeface="Calibri"/>
              </a:rPr>
              <a:t>Prototype → Controlled pilot → Field pilot → Product → Node network</a:t>
            </a:r>
            <a:endParaRPr lang="en-US" sz="1200"/>
          </a:p>
        </p:txBody>
      </p:sp>
      <p:sp>
        <p:nvSpPr>
          <p:cNvPr id="436462438" name="Text 17"/>
          <p:cNvSpPr txBox="1"/>
          <p:nvPr/>
        </p:nvSpPr>
        <p:spPr bwMode="auto">
          <a:xfrm>
            <a:off x="548640" y="6263640"/>
            <a:ext cx="4572000" cy="274320"/>
          </a:xfrm>
          <a:prstGeom prst="rect">
            <a:avLst/>
          </a:prstGeom>
          <a:noFill/>
          <a:ln/>
        </p:spPr>
        <p:txBody>
          <a:bodyPr wrap="square" lIns="0" tIns="0" rIns="0" bIns="0" rtlCol="0" anchor="ctr"/>
          <a:lstStyle/>
          <a:p>
            <a:pPr marL="0" indent="0">
              <a:buNone/>
              <a:defRPr/>
            </a:pPr>
            <a:r>
              <a:rPr lang="en-US" sz="1000">
                <a:solidFill>
                  <a:srgbClr val="4A5B70"/>
                </a:solidFill>
                <a:latin typeface="Calibri"/>
                <a:ea typeface="Calibri"/>
                <a:cs typeface="Calibri"/>
              </a:rPr>
              <a:t>zMz  |  Kusile WaterGuard</a:t>
            </a:r>
            <a:endParaRPr lang="en-US" sz="1000"/>
          </a:p>
        </p:txBody>
      </p:sp>
      <p:sp>
        <p:nvSpPr>
          <p:cNvPr id="617094303" name="Text 18"/>
          <p:cNvSpPr txBox="1"/>
          <p:nvPr/>
        </p:nvSpPr>
        <p:spPr bwMode="auto">
          <a:xfrm>
            <a:off x="3291840" y="6263640"/>
            <a:ext cx="6949440" cy="274320"/>
          </a:xfrm>
          <a:prstGeom prst="rect">
            <a:avLst/>
          </a:prstGeom>
          <a:noFill/>
          <a:ln/>
        </p:spPr>
        <p:txBody>
          <a:bodyPr wrap="square" lIns="0" tIns="0" rIns="0" bIns="0" rtlCol="0" anchor="ctr"/>
          <a:lstStyle/>
          <a:p>
            <a:pPr marL="0" indent="0" algn="r">
              <a:buNone/>
              <a:defRPr/>
            </a:pPr>
            <a:r>
              <a:rPr lang="en-US" sz="900">
                <a:solidFill>
                  <a:srgbClr val="4A5B70"/>
                </a:solidFill>
                <a:latin typeface="Calibri"/>
                <a:ea typeface="Calibri"/>
                <a:cs typeface="Calibri"/>
              </a:rPr>
              <a:t>A small gate at every dam outlet costs far less than one spill.</a:t>
            </a:r>
            <a:endParaRPr lang="en-US" sz="900"/>
          </a:p>
        </p:txBody>
      </p:sp>
      <p:sp>
        <p:nvSpPr>
          <p:cNvPr id="518911421" name="Shape 19"/>
          <p:cNvSpPr/>
          <p:nvPr/>
        </p:nvSpPr>
        <p:spPr bwMode="auto">
          <a:xfrm>
            <a:off x="10927079" y="6035039"/>
            <a:ext cx="1005840" cy="502920"/>
          </a:xfrm>
          <a:prstGeom prst="roundRect">
            <a:avLst>
              <a:gd name="adj" fmla="val 10909"/>
            </a:avLst>
          </a:prstGeom>
          <a:solidFill>
            <a:srgbClr val="FFFFFF"/>
          </a:solidFill>
          <a:ln w="6350">
            <a:solidFill>
              <a:srgbClr val="D6E3F0"/>
            </a:solidFill>
            <a:prstDash val="solid"/>
          </a:ln>
        </p:spPr>
      </p:sp>
      <p:pic>
        <p:nvPicPr>
          <p:cNvPr id="1403264611" name="Image 0" descr="/mnt/user-data/outputs/deckassets/logo.jpg"/>
          <p:cNvPicPr>
            <a:picLocks noChangeAspect="1"/>
          </p:cNvPicPr>
          <p:nvPr/>
        </p:nvPicPr>
        <p:blipFill rotWithShape="1">
          <a:blip r:embed="rId3"/>
          <a:stretch/>
        </p:blipFill>
        <p:spPr bwMode="auto">
          <a:xfrm>
            <a:off x="10991088" y="6135624"/>
            <a:ext cx="877824" cy="30175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3F7FB"/>
        </a:solidFill>
      </p:bgPr>
    </p:bg>
    <p:spTree>
      <p:nvGrpSpPr>
        <p:cNvPr id="1" name=""/>
        <p:cNvGrpSpPr/>
        <p:nvPr/>
      </p:nvGrpSpPr>
      <p:grpSpPr bwMode="auto">
        <a:xfrm>
          <a:off x="0" y="0"/>
          <a:ext cx="0" cy="0"/>
          <a:chOff x="0" y="0"/>
          <a:chExt cx="0" cy="0"/>
        </a:xfrm>
      </p:grpSpPr>
      <p:sp>
        <p:nvSpPr>
          <p:cNvPr id="1785954393" name="Text 0"/>
          <p:cNvSpPr txBox="1"/>
          <p:nvPr/>
        </p:nvSpPr>
        <p:spPr bwMode="auto">
          <a:xfrm>
            <a:off x="548640" y="411480"/>
            <a:ext cx="8229600" cy="274320"/>
          </a:xfrm>
          <a:prstGeom prst="rect">
            <a:avLst/>
          </a:prstGeom>
          <a:noFill/>
          <a:ln/>
        </p:spPr>
        <p:txBody>
          <a:bodyPr wrap="square" lIns="0" tIns="0" rIns="0" bIns="0" rtlCol="0" anchor="ctr"/>
          <a:lstStyle/>
          <a:p>
            <a:pPr marL="0" indent="0">
              <a:buNone/>
              <a:defRPr/>
            </a:pPr>
            <a:r>
              <a:rPr lang="en-US" sz="1200" b="1" spc="199">
                <a:solidFill>
                  <a:srgbClr val="1B5FA8"/>
                </a:solidFill>
                <a:latin typeface="Calibri"/>
                <a:ea typeface="Calibri"/>
                <a:cs typeface="Calibri"/>
              </a:rPr>
              <a:t>THE TEAM</a:t>
            </a:r>
            <a:endParaRPr lang="en-US" sz="1200"/>
          </a:p>
        </p:txBody>
      </p:sp>
      <p:sp>
        <p:nvSpPr>
          <p:cNvPr id="1079135845" name="Text 1"/>
          <p:cNvSpPr txBox="1"/>
          <p:nvPr/>
        </p:nvSpPr>
        <p:spPr bwMode="auto">
          <a:xfrm>
            <a:off x="548640" y="731520"/>
            <a:ext cx="10515600" cy="685800"/>
          </a:xfrm>
          <a:prstGeom prst="rect">
            <a:avLst/>
          </a:prstGeom>
          <a:noFill/>
          <a:ln/>
        </p:spPr>
        <p:txBody>
          <a:bodyPr wrap="square" lIns="0" tIns="0" rIns="0" bIns="0" rtlCol="0" anchor="ctr"/>
          <a:lstStyle/>
          <a:p>
            <a:pPr marL="0" indent="0">
              <a:buNone/>
              <a:defRPr/>
            </a:pPr>
            <a:r>
              <a:rPr lang="en-US" sz="3200" b="1">
                <a:solidFill>
                  <a:srgbClr val="0B2545"/>
                </a:solidFill>
                <a:latin typeface="Cambria"/>
                <a:ea typeface="Cambria"/>
                <a:cs typeface="Cambria"/>
              </a:rPr>
              <a:t>IziMpisi ze-Data</a:t>
            </a:r>
            <a:endParaRPr lang="en-US" sz="3200"/>
          </a:p>
        </p:txBody>
      </p:sp>
      <p:sp>
        <p:nvSpPr>
          <p:cNvPr id="1794578399" name="Shape 2"/>
          <p:cNvSpPr/>
          <p:nvPr/>
        </p:nvSpPr>
        <p:spPr bwMode="auto">
          <a:xfrm flipH="0" flipV="0">
            <a:off x="548640" y="1987434"/>
            <a:ext cx="3114184" cy="1234440"/>
          </a:xfrm>
          <a:prstGeom prst="roundRect">
            <a:avLst>
              <a:gd name="adj" fmla="val 4444"/>
            </a:avLst>
          </a:prstGeom>
          <a:solidFill>
            <a:srgbClr val="0B2545"/>
          </a:solidFill>
          <a:ln w="12700">
            <a:solidFill>
              <a:srgbClr val="0B2545"/>
            </a:solidFill>
            <a:prstDash val="solid"/>
          </a:ln>
          <a:effectLst>
            <a:outerShdw blurRad="76200" dist="12700" dir="5400000" sx="100000" sy="100000" kx="0" ky="0" algn="bl" rotWithShape="0">
              <a:srgbClr val="9FB4C7">
                <a:alpha val="25000"/>
              </a:srgbClr>
            </a:outerShdw>
          </a:effectLst>
        </p:spPr>
      </p:sp>
      <p:sp>
        <p:nvSpPr>
          <p:cNvPr id="1141973376" name="Text 3"/>
          <p:cNvSpPr txBox="1"/>
          <p:nvPr/>
        </p:nvSpPr>
        <p:spPr bwMode="auto">
          <a:xfrm flipH="0" flipV="0">
            <a:off x="675584" y="2357766"/>
            <a:ext cx="2987240" cy="548640"/>
          </a:xfrm>
          <a:prstGeom prst="rect">
            <a:avLst/>
          </a:prstGeom>
          <a:noFill/>
          <a:ln/>
        </p:spPr>
        <p:txBody>
          <a:bodyPr wrap="square" lIns="0" tIns="0" rIns="0" bIns="0" rtlCol="0" anchor="ctr"/>
          <a:lstStyle/>
          <a:p>
            <a:pPr marL="0" indent="0">
              <a:buNone/>
              <a:defRPr/>
            </a:pPr>
            <a:r>
              <a:rPr lang="en-US" sz="2800" b="1">
                <a:solidFill>
                  <a:srgbClr val="5AA9E6"/>
                </a:solidFill>
                <a:latin typeface="Cambria"/>
                <a:ea typeface="Cambria"/>
                <a:cs typeface="Cambria"/>
              </a:rPr>
              <a:t>Lindelani Masego</a:t>
            </a:r>
            <a:endParaRPr lang="en-US" sz="2800"/>
          </a:p>
        </p:txBody>
      </p:sp>
      <p:sp>
        <p:nvSpPr>
          <p:cNvPr id="736997253" name="Shape 5"/>
          <p:cNvSpPr/>
          <p:nvPr/>
        </p:nvSpPr>
        <p:spPr bwMode="auto">
          <a:xfrm flipH="0" flipV="0">
            <a:off x="4018135" y="1987434"/>
            <a:ext cx="3114184" cy="1234440"/>
          </a:xfrm>
          <a:prstGeom prst="roundRect">
            <a:avLst>
              <a:gd name="adj" fmla="val 4444"/>
            </a:avLst>
          </a:prstGeom>
          <a:solidFill>
            <a:srgbClr val="FFFFFF"/>
          </a:solidFill>
          <a:ln w="12700">
            <a:solidFill>
              <a:srgbClr val="D6E3F0"/>
            </a:solidFill>
            <a:prstDash val="solid"/>
          </a:ln>
          <a:effectLst>
            <a:outerShdw blurRad="76200" dist="12700" dir="5400000" sx="100000" sy="100000" kx="0" ky="0" algn="bl" rotWithShape="0">
              <a:srgbClr val="9FB4C7">
                <a:alpha val="25000"/>
              </a:srgbClr>
            </a:outerShdw>
          </a:effectLst>
        </p:spPr>
      </p:sp>
      <p:sp>
        <p:nvSpPr>
          <p:cNvPr id="1827961455" name="Text 6"/>
          <p:cNvSpPr txBox="1"/>
          <p:nvPr/>
        </p:nvSpPr>
        <p:spPr bwMode="auto">
          <a:xfrm flipH="0" flipV="0">
            <a:off x="4462272" y="2398914"/>
            <a:ext cx="2218864" cy="548640"/>
          </a:xfrm>
          <a:prstGeom prst="rect">
            <a:avLst/>
          </a:prstGeom>
          <a:noFill/>
          <a:ln/>
        </p:spPr>
        <p:txBody>
          <a:bodyPr wrap="square" lIns="0" tIns="0" rIns="0" bIns="0" rtlCol="0" anchor="ctr"/>
          <a:lstStyle/>
          <a:p>
            <a:pPr marL="0" indent="0">
              <a:buNone/>
              <a:defRPr/>
            </a:pPr>
            <a:r>
              <a:rPr lang="en-US" sz="2800" b="1">
                <a:solidFill>
                  <a:srgbClr val="1B5FA8"/>
                </a:solidFill>
                <a:latin typeface="Cambria"/>
                <a:ea typeface="Cambria"/>
                <a:cs typeface="Cambria"/>
              </a:rPr>
              <a:t>Collen Nkosi</a:t>
            </a:r>
            <a:endParaRPr lang="en-US" sz="2800"/>
          </a:p>
        </p:txBody>
      </p:sp>
      <p:sp>
        <p:nvSpPr>
          <p:cNvPr id="1101606934" name="Text 17"/>
          <p:cNvSpPr txBox="1"/>
          <p:nvPr/>
        </p:nvSpPr>
        <p:spPr bwMode="auto">
          <a:xfrm>
            <a:off x="548640" y="6263640"/>
            <a:ext cx="4572000" cy="274320"/>
          </a:xfrm>
          <a:prstGeom prst="rect">
            <a:avLst/>
          </a:prstGeom>
          <a:noFill/>
          <a:ln/>
        </p:spPr>
        <p:txBody>
          <a:bodyPr wrap="square" lIns="0" tIns="0" rIns="0" bIns="0" rtlCol="0" anchor="ctr"/>
          <a:lstStyle/>
          <a:p>
            <a:pPr marL="0" indent="0">
              <a:buNone/>
              <a:defRPr/>
            </a:pPr>
            <a:r>
              <a:rPr lang="en-US" sz="1000">
                <a:solidFill>
                  <a:srgbClr val="4A5B70"/>
                </a:solidFill>
                <a:latin typeface="Calibri"/>
                <a:ea typeface="Calibri"/>
                <a:cs typeface="Calibri"/>
              </a:rPr>
              <a:t>zMz  |  Kusile WaterGuard</a:t>
            </a:r>
            <a:endParaRPr lang="en-US" sz="1000"/>
          </a:p>
        </p:txBody>
      </p:sp>
      <p:sp>
        <p:nvSpPr>
          <p:cNvPr id="1913538633" name="Shape 19"/>
          <p:cNvSpPr/>
          <p:nvPr/>
        </p:nvSpPr>
        <p:spPr bwMode="auto">
          <a:xfrm>
            <a:off x="10927079" y="6035039"/>
            <a:ext cx="1005840" cy="502920"/>
          </a:xfrm>
          <a:prstGeom prst="roundRect">
            <a:avLst>
              <a:gd name="adj" fmla="val 10909"/>
            </a:avLst>
          </a:prstGeom>
          <a:solidFill>
            <a:srgbClr val="FFFFFF"/>
          </a:solidFill>
          <a:ln w="6350">
            <a:solidFill>
              <a:srgbClr val="D6E3F0"/>
            </a:solidFill>
            <a:prstDash val="solid"/>
          </a:ln>
        </p:spPr>
      </p:sp>
      <p:pic>
        <p:nvPicPr>
          <p:cNvPr id="822761164" name="Image 0" descr="/mnt/user-data/outputs/deckassets/logo.jpg"/>
          <p:cNvPicPr>
            <a:picLocks noChangeAspect="1"/>
          </p:cNvPicPr>
          <p:nvPr/>
        </p:nvPicPr>
        <p:blipFill rotWithShape="1">
          <a:blip r:embed="rId3"/>
          <a:stretch/>
        </p:blipFill>
        <p:spPr bwMode="auto">
          <a:xfrm>
            <a:off x="10991088" y="6135624"/>
            <a:ext cx="877824" cy="301752"/>
          </a:xfrm>
          <a:prstGeom prst="rect">
            <a:avLst/>
          </a:prstGeom>
        </p:spPr>
      </p:pic>
      <p:sp>
        <p:nvSpPr>
          <p:cNvPr id="1422755782" name="Shape 2"/>
          <p:cNvSpPr/>
          <p:nvPr/>
        </p:nvSpPr>
        <p:spPr bwMode="auto">
          <a:xfrm flipH="0" flipV="0">
            <a:off x="7571232" y="1987434"/>
            <a:ext cx="3114183" cy="1234440"/>
          </a:xfrm>
          <a:prstGeom prst="roundRect">
            <a:avLst>
              <a:gd name="adj" fmla="val 4444"/>
            </a:avLst>
          </a:prstGeom>
          <a:solidFill>
            <a:srgbClr val="0B2545"/>
          </a:solidFill>
          <a:ln w="12700">
            <a:solidFill>
              <a:srgbClr val="0B2545"/>
            </a:solidFill>
            <a:prstDash val="solid"/>
          </a:ln>
          <a:effectLst>
            <a:outerShdw blurRad="76200" dist="12700" dir="5400000" sx="100000" sy="100000" kx="0" ky="0" algn="bl" rotWithShape="0">
              <a:srgbClr val="9FB4C7">
                <a:alpha val="25000"/>
              </a:srgbClr>
            </a:outerShdw>
          </a:effectLst>
        </p:spPr>
      </p:sp>
      <p:sp>
        <p:nvSpPr>
          <p:cNvPr id="931031287" name="Text 3"/>
          <p:cNvSpPr txBox="1"/>
          <p:nvPr/>
        </p:nvSpPr>
        <p:spPr bwMode="auto">
          <a:xfrm flipH="0" flipV="0">
            <a:off x="7741819" y="2324614"/>
            <a:ext cx="2987239" cy="548640"/>
          </a:xfrm>
          <a:prstGeom prst="rect">
            <a:avLst/>
          </a:prstGeom>
          <a:noFill/>
          <a:ln/>
        </p:spPr>
        <p:txBody>
          <a:bodyPr wrap="square" lIns="0" tIns="0" rIns="0" bIns="0" rtlCol="0" anchor="ctr"/>
          <a:lstStyle/>
          <a:p>
            <a:pPr marL="0" indent="0">
              <a:buNone/>
              <a:defRPr/>
            </a:pPr>
            <a:r>
              <a:rPr lang="en-US" sz="2800" b="1">
                <a:solidFill>
                  <a:srgbClr val="5AA9E6"/>
                </a:solidFill>
                <a:latin typeface="Cambria"/>
                <a:ea typeface="Cambria"/>
                <a:cs typeface="Cambria"/>
              </a:rPr>
              <a:t>Babongile Ncube</a:t>
            </a:r>
            <a:endParaRPr lang="en-US" sz="2800"/>
          </a:p>
        </p:txBody>
      </p:sp>
      <p:sp>
        <p:nvSpPr>
          <p:cNvPr id="1844826549" name="Shape 5"/>
          <p:cNvSpPr/>
          <p:nvPr/>
        </p:nvSpPr>
        <p:spPr bwMode="auto">
          <a:xfrm flipH="0" flipV="0">
            <a:off x="2169204" y="4131425"/>
            <a:ext cx="3114183" cy="1234440"/>
          </a:xfrm>
          <a:prstGeom prst="roundRect">
            <a:avLst>
              <a:gd name="adj" fmla="val 4444"/>
            </a:avLst>
          </a:prstGeom>
          <a:solidFill>
            <a:srgbClr val="FFFFFF"/>
          </a:solidFill>
          <a:ln w="12700">
            <a:solidFill>
              <a:srgbClr val="D6E3F0"/>
            </a:solidFill>
            <a:prstDash val="solid"/>
          </a:ln>
          <a:effectLst>
            <a:outerShdw blurRad="76200" dist="12700" dir="5400000" sx="100000" sy="100000" kx="0" ky="0" algn="bl" rotWithShape="0">
              <a:srgbClr val="9FB4C7">
                <a:alpha val="25000"/>
              </a:srgbClr>
            </a:outerShdw>
          </a:effectLst>
        </p:spPr>
      </p:sp>
      <p:sp>
        <p:nvSpPr>
          <p:cNvPr id="1911218080" name="Shape 5"/>
          <p:cNvSpPr/>
          <p:nvPr/>
        </p:nvSpPr>
        <p:spPr bwMode="auto">
          <a:xfrm flipH="0" flipV="0">
            <a:off x="6230565" y="4131425"/>
            <a:ext cx="3114183" cy="1234440"/>
          </a:xfrm>
          <a:prstGeom prst="roundRect">
            <a:avLst>
              <a:gd name="adj" fmla="val 4444"/>
            </a:avLst>
          </a:prstGeom>
          <a:solidFill>
            <a:srgbClr val="FFFFFF"/>
          </a:solidFill>
          <a:ln w="12700">
            <a:solidFill>
              <a:srgbClr val="D6E3F0"/>
            </a:solidFill>
            <a:prstDash val="solid"/>
          </a:ln>
          <a:effectLst>
            <a:outerShdw blurRad="76200" dist="12700" dir="5400000" sx="100000" sy="100000" kx="0" ky="0" algn="bl" rotWithShape="0">
              <a:srgbClr val="9FB4C7">
                <a:alpha val="25000"/>
              </a:srgbClr>
            </a:outerShdw>
          </a:effectLst>
        </p:spPr>
      </p:sp>
      <p:sp>
        <p:nvSpPr>
          <p:cNvPr id="1402871119" name="Text 6"/>
          <p:cNvSpPr txBox="1"/>
          <p:nvPr/>
        </p:nvSpPr>
        <p:spPr bwMode="auto">
          <a:xfrm flipH="0" flipV="0">
            <a:off x="2275556" y="4474325"/>
            <a:ext cx="2901479" cy="548640"/>
          </a:xfrm>
          <a:prstGeom prst="rect">
            <a:avLst/>
          </a:prstGeom>
          <a:noFill/>
          <a:ln/>
        </p:spPr>
        <p:txBody>
          <a:bodyPr wrap="square" lIns="0" tIns="0" rIns="0" bIns="0" rtlCol="0" anchor="ctr"/>
          <a:lstStyle/>
          <a:p>
            <a:pPr marL="0" indent="0">
              <a:buNone/>
              <a:defRPr/>
            </a:pPr>
            <a:r>
              <a:rPr lang="en-US" sz="2800" b="1">
                <a:solidFill>
                  <a:srgbClr val="1B5FA8"/>
                </a:solidFill>
                <a:latin typeface="Cambria"/>
                <a:ea typeface="Cambria"/>
                <a:cs typeface="Cambria"/>
              </a:rPr>
              <a:t>Sabelo Mtshweni</a:t>
            </a:r>
            <a:endParaRPr lang="en-US" sz="2800"/>
          </a:p>
        </p:txBody>
      </p:sp>
      <p:sp>
        <p:nvSpPr>
          <p:cNvPr id="1092356488" name="Text 6"/>
          <p:cNvSpPr txBox="1"/>
          <p:nvPr/>
        </p:nvSpPr>
        <p:spPr bwMode="auto">
          <a:xfrm flipH="0" flipV="0">
            <a:off x="6481139" y="4474325"/>
            <a:ext cx="2521361" cy="548640"/>
          </a:xfrm>
          <a:prstGeom prst="rect">
            <a:avLst/>
          </a:prstGeom>
          <a:noFill/>
          <a:ln/>
        </p:spPr>
        <p:txBody>
          <a:bodyPr wrap="square" lIns="0" tIns="0" rIns="0" bIns="0" rtlCol="0" anchor="ctr"/>
          <a:lstStyle/>
          <a:p>
            <a:pPr marL="0" indent="0">
              <a:buNone/>
              <a:defRPr/>
            </a:pPr>
            <a:r>
              <a:rPr lang="en-US" sz="2800" b="1">
                <a:solidFill>
                  <a:srgbClr val="1B5FA8"/>
                </a:solidFill>
                <a:latin typeface="Cambria"/>
                <a:ea typeface="Cambria"/>
                <a:cs typeface="Cambria"/>
              </a:rPr>
              <a:t>Gift Onwusaka</a:t>
            </a:r>
            <a:endParaRPr lang="en-US" sz="2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6</Slides>
  <Notes>6</Notes>
  <HiddenSlides>0</HiddenSlides>
  <MMClips>2</MMClips>
  <ScaleCrop>0</ScaleCrop>
  <HeadingPairs>
    <vt:vector size="4" baseType="variant">
      <vt:variant>
        <vt:lpstr>Theme</vt:lpstr>
      </vt:variant>
      <vt:variant>
        <vt:i4>1</vt:i4>
      </vt:variant>
      <vt:variant>
        <vt:lpstr>Slide Titles</vt:lpstr>
      </vt:variant>
      <vt:variant>
        <vt:i4>6</vt:i4>
      </vt:variant>
    </vt:vector>
  </HeadingPairs>
  <TitlesOfParts>
    <vt:vector size="7" baseType="lpstr">
      <vt:lpstr>Theme 1</vt:lpstr>
      <vt:lpstr>Slide 1</vt:lpstr>
      <vt:lpstr>Slide 2</vt:lpstr>
      <vt:lpstr>Slide 3</vt:lpstr>
      <vt:lpstr>Slide 4</vt:lpstr>
      <vt:lpstr>Slide 5</vt:lpstr>
      <vt:lpstr>Slide 6</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Kusile WaterGuard</dc:title>
  <dc:subject>PptxGenJS Presentation</dc:subject>
  <dc:creator>zMz</dc:creator>
  <cp:lastModifiedBy/>
  <cp:revision>2</cp:revision>
  <dcterms:created xsi:type="dcterms:W3CDTF">2026-09-18T05:53:14Z</dcterms:created>
  <dcterms:modified xsi:type="dcterms:W3CDTF">2026-09-18T07:45:08Z</dcterms:modified>
</cp:coreProperties>
</file>