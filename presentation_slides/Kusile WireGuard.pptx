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0"/>
  </p:notesMasterIdLst>
  <p:sldIdLst>
    <p:sldId id="256" r:id="rId3"/>
    <p:sldId id="257" r:id="rId4"/>
    <p:sldId id="258" r:id="rId5"/>
    <p:sldId id="259" r:id="rId6"/>
    <p:sldId id="260" r:id="rId7"/>
    <p:sldId id="261" r:id="rId8"/>
    <p:sldId id="262" r:id="rId9"/>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0170311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729371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31077697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4664957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1752052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69238525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4242373" name="Slide Image Placeholder 1"/>
          <p:cNvSpPr>
            <a:spLocks noChangeAspect="1" noGrp="1" noRot="1"/>
          </p:cNvSpPr>
          <p:nvPr>
            <p:ph type="sldImg"/>
          </p:nvPr>
        </p:nvSpPr>
        <p:spPr bwMode="auto"/>
      </p:sp>
      <p:sp>
        <p:nvSpPr>
          <p:cNvPr id="1333697815" name="Notes Placeholder 2"/>
          <p:cNvSpPr>
            <a:spLocks noGrp="1"/>
          </p:cNvSpPr>
          <p:nvPr>
            <p:ph type="body" idx="1"/>
          </p:nvPr>
        </p:nvSpPr>
        <p:spPr bwMode="auto"/>
        <p:txBody>
          <a:bodyPr/>
          <a:lstStyle/>
          <a:p>
            <a:pPr>
              <a:defRPr/>
            </a:pPr>
            <a:r>
              <a:rPr lang="en-US"/>
              <a:t>Say the hook slowly. "Every single day, 25 million litres of water collects in the old coal mines beneath eMalahleni. That's ten Olympic swimming pools. Every day. And much of it will one day leave those mines without anyone testing it." Pause for two seconds. Then: "For more than 60 years, the Sindane family has lived on their farm in Mpumalanga. Today they are surrounded by a coal mine, and they told Parliament that the water their livestock drink is being poisoned by the mine's waste water. They are one of about 500 families in the province facing a similar situation." Present this as their reported experience, not a proven finding, and do not name the neighbouring mine.</a:t>
            </a:r>
            <a:endParaRPr lang="en-US"/>
          </a:p>
        </p:txBody>
      </p:sp>
      <p:sp>
        <p:nvSpPr>
          <p:cNvPr id="158830757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9280694" name="Slide Image Placeholder 1"/>
          <p:cNvSpPr>
            <a:spLocks noChangeAspect="1" noGrp="1" noRot="1"/>
          </p:cNvSpPr>
          <p:nvPr>
            <p:ph type="sldImg"/>
          </p:nvPr>
        </p:nvSpPr>
        <p:spPr bwMode="auto"/>
      </p:sp>
      <p:sp>
        <p:nvSpPr>
          <p:cNvPr id="527986870" name="Notes Placeholder 2"/>
          <p:cNvSpPr>
            <a:spLocks noGrp="1"/>
          </p:cNvSpPr>
          <p:nvPr>
            <p:ph type="body" idx="1"/>
          </p:nvPr>
        </p:nvSpPr>
        <p:spPr bwMode="auto"/>
        <p:txBody>
          <a:bodyPr/>
          <a:lstStyle/>
          <a:p>
            <a:pPr>
              <a:defRPr/>
            </a:pPr>
            <a:r>
              <a:rPr lang="en-US"/>
              <a:t>"Every coal mine must get rid of water. Mines are required by law to collect dirty water in pollution control dams. But a dam only stores water; it doesn't clean it. Eventually the water leaves, in one of two ways. Some mines are licensed to release treated water into rivers: Seriti Resources' Arnot Colliery is building a plant to treat mine water and discharge it into the Bosmanspruit under its water use licence. Others release it without control. The Department of Water and Sanitation opened a criminal case against Woestalleen Colliery near Hendrina after suspending its water use licence for continued pollution. When dirty water gets out, the damage spreads fast. In February 2022, acid water from the old Kromdraai mine near eMalahleni, owned by Thungela Resources, killed a 58 km stretch of the Wilge River system within days. The company said the volume exceeded the maximum capacity at its treatment point. Two years later, 112 km of river still had no fish, and the bill reached about R1 billion. In Carolina, acidic water from old coal mines flowed into the town's supply dam, leaving about 17,000 residents on water tankers for nine months." Say the names in a neutral tone. Stick to what the sources say.</a:t>
            </a:r>
            <a:endParaRPr lang="en-US"/>
          </a:p>
        </p:txBody>
      </p:sp>
      <p:sp>
        <p:nvSpPr>
          <p:cNvPr id="54504127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3043260" name="Slide Image Placeholder 1"/>
          <p:cNvSpPr>
            <a:spLocks noChangeAspect="1" noGrp="1" noRot="1"/>
          </p:cNvSpPr>
          <p:nvPr>
            <p:ph type="sldImg"/>
          </p:nvPr>
        </p:nvSpPr>
        <p:spPr bwMode="auto"/>
      </p:sp>
      <p:sp>
        <p:nvSpPr>
          <p:cNvPr id="1935238533" name="Notes Placeholder 2"/>
          <p:cNvSpPr>
            <a:spLocks noGrp="1"/>
          </p:cNvSpPr>
          <p:nvPr>
            <p:ph type="body" idx="1"/>
          </p:nvPr>
        </p:nvSpPr>
        <p:spPr bwMode="auto"/>
        <p:txBody>
          <a:bodyPr/>
          <a:lstStyle/>
          <a:p>
            <a:pPr>
              <a:defRPr/>
            </a:pPr>
            <a:r>
              <a:rPr lang="en-US"/>
              <a:t>"This is the water sitting in the pits. A pH of 3 is closer to vinegar than to drinking water, and it carries iron, aluminium and manganese with it. Whether a release is licensed or not, the problem is the same: nobody tests the water at the moment it leaves the mine. The regulator has failed to monitor mines' water licence compliance, and some river monitoring stations were cut to monthly sampling. A spill takes hours; a monthly test finds it weeks later." Pause here. Then read the problem statement: "Mpumalanga needs an affordable, on site system that tests mine water before it is released, proves that licensed releases meet their limits, and automatically holds back or treats water that is not clean, so no family downstream finds out too late." Add the full name of the eMalahleni study to the source line.</a:t>
            </a:r>
            <a:endParaRPr lang="en-US"/>
          </a:p>
        </p:txBody>
      </p:sp>
      <p:sp>
        <p:nvSpPr>
          <p:cNvPr id="59014231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3248918" name="Slide Image Placeholder 1"/>
          <p:cNvSpPr>
            <a:spLocks noChangeAspect="1" noGrp="1" noRot="1"/>
          </p:cNvSpPr>
          <p:nvPr>
            <p:ph type="sldImg"/>
          </p:nvPr>
        </p:nvSpPr>
        <p:spPr bwMode="auto"/>
      </p:sp>
      <p:sp>
        <p:nvSpPr>
          <p:cNvPr id="1148965741" name="Notes Placeholder 2"/>
          <p:cNvSpPr>
            <a:spLocks noGrp="1"/>
          </p:cNvSpPr>
          <p:nvPr>
            <p:ph type="body" idx="1"/>
          </p:nvPr>
        </p:nvSpPr>
        <p:spPr bwMode="auto"/>
        <p:txBody>
          <a:bodyPr/>
          <a:lstStyle/>
          <a:p>
            <a:pPr>
              <a:defRPr/>
            </a:pPr>
            <a:r>
              <a:rPr lang="en-US"/>
              <a:t>Pause for about one second after each "What if" line. The first line names the problem, the second makes it personal, the third sets up the solution. Say "That's why we built AcidShield" slightly louder and more slowly. Keep this under 15 seconds, then move on with: "Right now, none of those what ifs are possible. Here's why."</a:t>
            </a:r>
            <a:endParaRPr lang="en-US"/>
          </a:p>
        </p:txBody>
      </p:sp>
      <p:sp>
        <p:nvSpPr>
          <p:cNvPr id="179502146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5360746" name="Slide Image Placeholder 1"/>
          <p:cNvSpPr>
            <a:spLocks noChangeAspect="1" noGrp="1" noRot="1"/>
          </p:cNvSpPr>
          <p:nvPr>
            <p:ph type="sldImg"/>
          </p:nvPr>
        </p:nvSpPr>
        <p:spPr bwMode="auto"/>
      </p:sp>
      <p:sp>
        <p:nvSpPr>
          <p:cNvPr id="2113116268" name="Notes Placeholder 2"/>
          <p:cNvSpPr>
            <a:spLocks noGrp="1"/>
          </p:cNvSpPr>
          <p:nvPr>
            <p:ph type="body" idx="1"/>
          </p:nvPr>
        </p:nvSpPr>
        <p:spPr bwMode="auto"/>
        <p:txBody>
          <a:bodyPr/>
          <a:lstStyle/>
          <a:p>
            <a:pPr>
              <a:defRPr/>
            </a:pPr>
            <a:r>
              <a:rPr lang="en-US"/>
              <a:t>"AcidShield sits at the outlet of the mine's pollution control dam, the last point before water leaves the site. The dam holds the water. AcidShield decides whether it's safe to let go." Walk the table row by row: each gap today, and how AcidShield closes it. If asked whether you treat the water: "Our node neutralises acidic water on site, which is the most urgent danger. For water that also needs salts removed, AcidShield doesn't release it; it holds it and routes it to full treatment." If asked about storms: "We can't stop the storm, but we can make sure the dam isn't already full when it arrives, and that nobody finds out weeks later." Do not claim AcidShield would have prevented Kromdraai; say it is designed to catch releases like it.</a:t>
            </a:r>
            <a:endParaRPr lang="en-US"/>
          </a:p>
        </p:txBody>
      </p:sp>
      <p:sp>
        <p:nvSpPr>
          <p:cNvPr id="2123225899"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0438536" name="Slide Image Placeholder 1"/>
          <p:cNvSpPr>
            <a:spLocks noChangeAspect="1" noGrp="1" noRot="1"/>
          </p:cNvSpPr>
          <p:nvPr>
            <p:ph type="sldImg"/>
          </p:nvPr>
        </p:nvSpPr>
        <p:spPr bwMode="auto"/>
      </p:sp>
      <p:sp>
        <p:nvSpPr>
          <p:cNvPr id="1589574175" name="Notes Placeholder 2"/>
          <p:cNvSpPr>
            <a:spLocks noGrp="1"/>
          </p:cNvSpPr>
          <p:nvPr>
            <p:ph type="body" idx="1"/>
          </p:nvPr>
        </p:nvSpPr>
        <p:spPr bwMode="auto"/>
        <p:txBody>
          <a:bodyPr/>
          <a:lstStyle/>
          <a:p>
            <a:pPr>
              <a:defRPr/>
            </a:pPr>
            <a:r>
              <a:rPr lang="en-US"/>
              <a:t>"Mine water is caught in 100 litre batches and tested before any of it reaches the river." Walk the five steps left to right. Then: "In Tinkercad, parts that don't exist are replaced: potentiometers act as the probes, servos act as the valves, DC motors act as the pumps. The Serial Monitor stands in for the 3D twin feed; the real device sends the same data over WiFi." Run the simulation live: turn the Chamber pH knob left to trigger a failed batch, then flip the slideswitch to show the neutraliser empty alarm. Current limits if asked: no upper pH limit yet (add pH ≤ 9.5), the tank corrects pH but not TDS, and flow is counted in code instead of a real flow sensor.</a:t>
            </a:r>
            <a:endParaRPr lang="en-US"/>
          </a:p>
        </p:txBody>
      </p:sp>
      <p:sp>
        <p:nvSpPr>
          <p:cNvPr id="1296489884"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7732122" name="Slide Image Placeholder 1"/>
          <p:cNvSpPr>
            <a:spLocks noChangeAspect="1" noGrp="1" noRot="1"/>
          </p:cNvSpPr>
          <p:nvPr>
            <p:ph type="sldImg"/>
          </p:nvPr>
        </p:nvSpPr>
        <p:spPr bwMode="auto"/>
      </p:sp>
      <p:sp>
        <p:nvSpPr>
          <p:cNvPr id="185771318" name="Notes Placeholder 2"/>
          <p:cNvSpPr>
            <a:spLocks noGrp="1"/>
          </p:cNvSpPr>
          <p:nvPr>
            <p:ph type="body" idx="1"/>
          </p:nvPr>
        </p:nvSpPr>
        <p:spPr bwMode="auto"/>
        <p:txBody>
          <a:bodyPr/>
          <a:lstStyle/>
          <a:p>
            <a:pPr>
              <a:defRPr/>
            </a:pPr>
            <a:r>
              <a:rPr lang="en-US"/>
              <a:t>"Monitoring tells you there's a problem. Treatment plants clean it later. AcidShield stops it at the gate." Point to the three numbers: one node, versus about R300 million for eMalahleni's original plant, versus about R1 billion after Kromdraai. Then the customers: operating mines need proof their releases meet licence limits, owners of closed mines stay responsible (Kromdraai closed 56 years before its spill), treatment operators can add nodes at their outlets, and municipalities get early warning at their intakes. The legal driver means customers need a solution, not just want one. Business model: a once off hardware and installation fee, a monthly monitoring subscription, and ongoing maintenance, calibration, sensor replacement, neutraliser supply and compliance reports. Close with the roadmap from prototype to a network of nodes across a mine. Fill in the node cost once parts are priced; do not guess a number.</a:t>
            </a:r>
            <a:endParaRPr lang="en-US"/>
          </a:p>
        </p:txBody>
      </p:sp>
      <p:sp>
        <p:nvSpPr>
          <p:cNvPr id="1405704490"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B2545"/>
        </a:solidFill>
      </p:bgPr>
    </p:bg>
    <p:spTree>
      <p:nvGrpSpPr>
        <p:cNvPr id="1" name=""/>
        <p:cNvGrpSpPr/>
        <p:nvPr/>
      </p:nvGrpSpPr>
      <p:grpSpPr bwMode="auto">
        <a:xfrm>
          <a:off x="0" y="0"/>
          <a:ext cx="0" cy="0"/>
          <a:chOff x="0" y="0"/>
          <a:chExt cx="0" cy="0"/>
        </a:xfrm>
      </p:grpSpPr>
      <p:sp>
        <p:nvSpPr>
          <p:cNvPr id="205358032" name="Text 0"/>
          <p:cNvSpPr/>
          <p:nvPr/>
        </p:nvSpPr>
        <p:spPr bwMode="auto">
          <a:xfrm>
            <a:off x="812800" y="812800"/>
            <a:ext cx="6409690" cy="238720"/>
          </a:xfrm>
          <a:prstGeom prst="rect">
            <a:avLst/>
          </a:prstGeom>
          <a:noFill/>
          <a:ln/>
        </p:spPr>
        <p:txBody>
          <a:bodyPr wrap="square" lIns="0" tIns="0" rIns="0" bIns="0" rtlCol="0" anchor="t">
            <a:normAutofit/>
          </a:bodyPr>
          <a:lstStyle/>
          <a:p>
            <a:pPr marL="0" indent="0" algn="l">
              <a:lnSpc>
                <a:spcPts val="1680"/>
              </a:lnSpc>
              <a:buNone/>
              <a:defRPr/>
            </a:pPr>
            <a:r>
              <a:rPr lang="en-US" sz="1200" b="1" spc="200">
                <a:solidFill>
                  <a:srgbClr val="9CC8F2"/>
                </a:solidFill>
                <a:latin typeface="Inter"/>
                <a:ea typeface="Inter"/>
                <a:cs typeface="Inter"/>
              </a:rPr>
              <a:t>THE PROBLEM</a:t>
            </a:r>
            <a:endParaRPr lang="en-US" sz="1200"/>
          </a:p>
        </p:txBody>
      </p:sp>
      <p:sp>
        <p:nvSpPr>
          <p:cNvPr id="1719771242" name="Text 1"/>
          <p:cNvSpPr/>
          <p:nvPr/>
        </p:nvSpPr>
        <p:spPr bwMode="auto">
          <a:xfrm>
            <a:off x="812800" y="1178520"/>
            <a:ext cx="6409690" cy="1518841"/>
          </a:xfrm>
          <a:prstGeom prst="rect">
            <a:avLst/>
          </a:prstGeom>
          <a:noFill/>
          <a:ln/>
        </p:spPr>
        <p:txBody>
          <a:bodyPr wrap="square" lIns="0" tIns="0" rIns="0" bIns="0" rtlCol="0" anchor="t">
            <a:normAutofit/>
          </a:bodyPr>
          <a:lstStyle/>
          <a:p>
            <a:pPr marL="0" indent="0" algn="l">
              <a:lnSpc>
                <a:spcPts val="5880"/>
              </a:lnSpc>
              <a:buNone/>
              <a:defRPr/>
            </a:pPr>
            <a:r>
              <a:rPr lang="en-US" sz="5600" b="1">
                <a:solidFill>
                  <a:srgbClr val="FCFDFF"/>
                </a:solidFill>
                <a:latin typeface="Montserrat"/>
                <a:ea typeface="Montserrat"/>
                <a:cs typeface="Montserrat"/>
              </a:rPr>
              <a:t>25 million litres a day.</a:t>
            </a:r>
            <a:endParaRPr lang="en-US" sz="5600"/>
          </a:p>
        </p:txBody>
      </p:sp>
      <p:sp>
        <p:nvSpPr>
          <p:cNvPr id="1945160683" name="Text 2"/>
          <p:cNvSpPr/>
          <p:nvPr/>
        </p:nvSpPr>
        <p:spPr bwMode="auto">
          <a:xfrm>
            <a:off x="812800" y="2824361"/>
            <a:ext cx="6409690" cy="345380"/>
          </a:xfrm>
          <a:prstGeom prst="rect">
            <a:avLst/>
          </a:prstGeom>
          <a:noFill/>
          <a:ln/>
        </p:spPr>
        <p:txBody>
          <a:bodyPr wrap="square" lIns="0" tIns="0" rIns="0" bIns="0" rtlCol="0" anchor="t">
            <a:normAutofit/>
          </a:bodyPr>
          <a:lstStyle/>
          <a:p>
            <a:pPr marL="0" indent="0" algn="l">
              <a:lnSpc>
                <a:spcPts val="2520"/>
              </a:lnSpc>
              <a:buNone/>
              <a:defRPr/>
            </a:pPr>
            <a:r>
              <a:rPr lang="en-US" sz="1800" b="1">
                <a:solidFill>
                  <a:srgbClr val="9CC8F2"/>
                </a:solidFill>
                <a:latin typeface="Inter"/>
                <a:ea typeface="Inter"/>
                <a:cs typeface="Inter"/>
              </a:rPr>
              <a:t>Ten Olympic swimming pools. Every day.</a:t>
            </a:r>
            <a:endParaRPr lang="en-US" sz="1800"/>
          </a:p>
        </p:txBody>
      </p:sp>
      <p:sp>
        <p:nvSpPr>
          <p:cNvPr id="775396810" name="Text 3"/>
          <p:cNvSpPr/>
          <p:nvPr/>
        </p:nvSpPr>
        <p:spPr bwMode="auto">
          <a:xfrm>
            <a:off x="812800" y="3296741"/>
            <a:ext cx="6409690" cy="523081"/>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DCE8F5"/>
                </a:solidFill>
                <a:latin typeface="Inter"/>
                <a:ea typeface="Inter"/>
                <a:cs typeface="Inter"/>
              </a:rPr>
              <a:t>That is how fast water collects in the old coal mines beneath eMalahleni. Much of it will one day leave those mines without anyone testing it.</a:t>
            </a:r>
            <a:endParaRPr lang="en-US" sz="1400"/>
          </a:p>
        </p:txBody>
      </p:sp>
      <p:sp>
        <p:nvSpPr>
          <p:cNvPr id="1142386334" name="Shape 4"/>
          <p:cNvSpPr/>
          <p:nvPr/>
        </p:nvSpPr>
        <p:spPr bwMode="auto">
          <a:xfrm>
            <a:off x="815975" y="3949998"/>
            <a:ext cx="6216650" cy="1707852"/>
          </a:xfrm>
          <a:prstGeom prst="roundRect">
            <a:avLst>
              <a:gd name="adj" fmla="val 5763"/>
            </a:avLst>
          </a:prstGeom>
          <a:solidFill>
            <a:srgbClr val="13335C"/>
          </a:solidFill>
          <a:ln w="6350">
            <a:solidFill>
              <a:srgbClr val="2A4F7F"/>
            </a:solidFill>
            <a:prstDash val="solid"/>
          </a:ln>
        </p:spPr>
      </p:sp>
      <p:sp>
        <p:nvSpPr>
          <p:cNvPr id="235893072" name="Text 5"/>
          <p:cNvSpPr/>
          <p:nvPr/>
        </p:nvSpPr>
        <p:spPr bwMode="auto">
          <a:xfrm>
            <a:off x="1047750" y="4181773"/>
            <a:ext cx="5925693" cy="26918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FCFDFF"/>
                </a:solidFill>
                <a:latin typeface="Montserrat"/>
                <a:ea typeface="Montserrat"/>
                <a:cs typeface="Montserrat"/>
              </a:rPr>
              <a:t>The Sindane family</a:t>
            </a:r>
            <a:endParaRPr lang="en-US" sz="1600"/>
          </a:p>
        </p:txBody>
      </p:sp>
      <p:sp>
        <p:nvSpPr>
          <p:cNvPr id="2020260946" name="Text 6"/>
          <p:cNvSpPr/>
          <p:nvPr/>
        </p:nvSpPr>
        <p:spPr bwMode="auto">
          <a:xfrm>
            <a:off x="1047750" y="4501753"/>
            <a:ext cx="5925693" cy="949722"/>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DCE8F5"/>
                </a:solidFill>
                <a:latin typeface="Inter"/>
                <a:ea typeface="Inter"/>
                <a:cs typeface="Inter"/>
              </a:rPr>
              <a:t>They have farmed in Mpumalanga for more than 60 years. Now surrounded by a coal mine, they told Parliament that the water their livestock drink is being poisoned by mine waste water. About 500 families in the province face the same.</a:t>
            </a:r>
            <a:endParaRPr lang="en-US" sz="1300"/>
          </a:p>
        </p:txBody>
      </p:sp>
      <p:sp>
        <p:nvSpPr>
          <p:cNvPr id="1851760574" name="Text 8"/>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9CC8F2"/>
                </a:solidFill>
                <a:latin typeface="Inter"/>
                <a:ea typeface="Inter"/>
                <a:cs typeface="Inter"/>
              </a:rPr>
              <a:t>zMz</a:t>
            </a:r>
            <a:r>
              <a:rPr lang="en-US" sz="1200">
                <a:solidFill>
                  <a:srgbClr val="9CC8F2"/>
                </a:solidFill>
                <a:latin typeface="Inter"/>
                <a:ea typeface="Inter"/>
                <a:cs typeface="Inter"/>
              </a:rPr>
              <a:t> | Kusile WaterGuard</a:t>
            </a:r>
            <a:endParaRPr lang="en-US" sz="1200"/>
          </a:p>
        </p:txBody>
      </p:sp>
      <p:sp>
        <p:nvSpPr>
          <p:cNvPr id="595711346" name="Text 9"/>
          <p:cNvSpPr/>
          <p:nvPr/>
        </p:nvSpPr>
        <p:spPr bwMode="auto">
          <a:xfrm>
            <a:off x="4416524" y="6243340"/>
            <a:ext cx="4651828"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9CC8F2"/>
                </a:solidFill>
                <a:latin typeface="Inter"/>
                <a:ea typeface="Inter"/>
                <a:cs typeface="Inter"/>
              </a:rPr>
              <a:t>Sources: Parliament of South Africa (2022); [eMalahleni study]</a:t>
            </a:r>
            <a:endParaRPr lang="en-US" sz="1200"/>
          </a:p>
        </p:txBody>
      </p:sp>
      <p:sp>
        <p:nvSpPr>
          <p:cNvPr id="408327594" name="Text 10"/>
          <p:cNvSpPr/>
          <p:nvPr/>
        </p:nvSpPr>
        <p:spPr bwMode="auto">
          <a:xfrm>
            <a:off x="11317188" y="6243340"/>
            <a:ext cx="112812"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9CC8F2"/>
                </a:solidFill>
                <a:latin typeface="Inter"/>
                <a:ea typeface="Inter"/>
                <a:cs typeface="Inter"/>
              </a:rPr>
              <a:t>1</a:t>
            </a:r>
            <a:endParaRPr lang="en-US" sz="1200"/>
          </a:p>
        </p:txBody>
      </p:sp>
      <p:pic>
        <p:nvPicPr>
          <p:cNvPr id="917628248" name=""/>
          <p:cNvPicPr>
            <a:picLocks noChangeAspect="1"/>
          </p:cNvPicPr>
          <p:nvPr/>
        </p:nvPicPr>
        <p:blipFill rotWithShape="1">
          <a:blip r:embed="rId3"/>
          <a:srcRect l="10608" t="434" r="22212" b="-434"/>
          <a:stretch/>
        </p:blipFill>
        <p:spPr bwMode="auto">
          <a:xfrm flipH="0" flipV="0">
            <a:off x="7707857" y="1178519"/>
            <a:ext cx="4143993" cy="4626428"/>
          </a:xfrm>
          <a:prstGeom prst="flowChartAlternateProcess">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3F7FC"/>
        </a:solidFill>
      </p:bgPr>
    </p:bg>
    <p:spTree>
      <p:nvGrpSpPr>
        <p:cNvPr id="1" name=""/>
        <p:cNvGrpSpPr/>
        <p:nvPr/>
      </p:nvGrpSpPr>
      <p:grpSpPr bwMode="auto">
        <a:xfrm>
          <a:off x="0" y="0"/>
          <a:ext cx="0" cy="0"/>
          <a:chOff x="0" y="0"/>
          <a:chExt cx="0" cy="0"/>
        </a:xfrm>
      </p:grpSpPr>
      <p:sp>
        <p:nvSpPr>
          <p:cNvPr id="828231968" name="Text 0"/>
          <p:cNvSpPr/>
          <p:nvPr/>
        </p:nvSpPr>
        <p:spPr bwMode="auto">
          <a:xfrm>
            <a:off x="812800" y="812800"/>
            <a:ext cx="10883392" cy="472380"/>
          </a:xfrm>
          <a:prstGeom prst="rect">
            <a:avLst/>
          </a:prstGeom>
          <a:noFill/>
          <a:ln/>
        </p:spPr>
        <p:txBody>
          <a:bodyPr wrap="square" lIns="0" tIns="0" rIns="0" bIns="0" rtlCol="0" anchor="t">
            <a:normAutofit/>
          </a:bodyPr>
          <a:lstStyle/>
          <a:p>
            <a:pPr marL="0" indent="0" algn="l">
              <a:lnSpc>
                <a:spcPts val="3520"/>
              </a:lnSpc>
              <a:buNone/>
              <a:defRPr/>
            </a:pPr>
            <a:r>
              <a:rPr lang="en-US" sz="3200" b="1">
                <a:solidFill>
                  <a:srgbClr val="0B2545"/>
                </a:solidFill>
                <a:latin typeface="Montserrat"/>
                <a:ea typeface="Montserrat"/>
                <a:cs typeface="Montserrat"/>
              </a:rPr>
              <a:t>How mine water reaches our rivers</a:t>
            </a:r>
            <a:endParaRPr lang="en-US" sz="3200"/>
          </a:p>
        </p:txBody>
      </p:sp>
      <p:sp>
        <p:nvSpPr>
          <p:cNvPr id="1288922520" name="Text 1"/>
          <p:cNvSpPr/>
          <p:nvPr/>
        </p:nvSpPr>
        <p:spPr bwMode="auto">
          <a:xfrm>
            <a:off x="812800" y="1462980"/>
            <a:ext cx="10883392" cy="292100"/>
          </a:xfrm>
          <a:prstGeom prst="rect">
            <a:avLst/>
          </a:prstGeom>
          <a:noFill/>
          <a:ln/>
        </p:spPr>
        <p:txBody>
          <a:bodyPr wrap="square" lIns="0" tIns="0" rIns="0" bIns="0" rtlCol="0" anchor="t">
            <a:normAutofit/>
          </a:bodyPr>
          <a:lstStyle/>
          <a:p>
            <a:pPr marL="0" indent="0" algn="l">
              <a:lnSpc>
                <a:spcPts val="2100"/>
              </a:lnSpc>
              <a:buNone/>
              <a:defRPr/>
            </a:pPr>
            <a:r>
              <a:rPr lang="en-US" sz="1500">
                <a:solidFill>
                  <a:srgbClr val="4B5D73"/>
                </a:solidFill>
                <a:latin typeface="Inter"/>
                <a:ea typeface="Inter"/>
                <a:cs typeface="Inter"/>
              </a:rPr>
              <a:t>Mines must store dirty water in dams. But a dam only stores water. It does not clean it.</a:t>
            </a:r>
            <a:endParaRPr lang="en-US" sz="1500"/>
          </a:p>
        </p:txBody>
      </p:sp>
      <p:sp>
        <p:nvSpPr>
          <p:cNvPr id="1717103389" name="Shape 2"/>
          <p:cNvSpPr/>
          <p:nvPr/>
        </p:nvSpPr>
        <p:spPr bwMode="auto">
          <a:xfrm>
            <a:off x="815975" y="1936055"/>
            <a:ext cx="3380283" cy="2210792"/>
          </a:xfrm>
          <a:prstGeom prst="roundRect">
            <a:avLst>
              <a:gd name="adj" fmla="val 4452"/>
            </a:avLst>
          </a:prstGeom>
          <a:solidFill>
            <a:srgbClr val="FCFDFF"/>
          </a:solidFill>
          <a:ln w="6350">
            <a:solidFill>
              <a:srgbClr val="D6E2F0"/>
            </a:solidFill>
            <a:prstDash val="solid"/>
          </a:ln>
        </p:spPr>
      </p:sp>
      <p:sp>
        <p:nvSpPr>
          <p:cNvPr id="979226441" name="Text 3"/>
          <p:cNvSpPr/>
          <p:nvPr/>
        </p:nvSpPr>
        <p:spPr bwMode="auto">
          <a:xfrm>
            <a:off x="1047750" y="2167830"/>
            <a:ext cx="3004235"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1560BD"/>
                </a:solidFill>
                <a:latin typeface="Inter"/>
                <a:ea typeface="Inter"/>
                <a:cs typeface="Inter"/>
              </a:rPr>
              <a:t>LICENSED RELEASE</a:t>
            </a:r>
            <a:endParaRPr lang="en-US" sz="1200"/>
          </a:p>
        </p:txBody>
      </p:sp>
      <p:sp>
        <p:nvSpPr>
          <p:cNvPr id="927059155" name="Text 4"/>
          <p:cNvSpPr/>
          <p:nvPr/>
        </p:nvSpPr>
        <p:spPr bwMode="auto">
          <a:xfrm>
            <a:off x="1047750" y="2457351"/>
            <a:ext cx="3004235" cy="4826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0B2545"/>
                </a:solidFill>
                <a:latin typeface="Montserrat"/>
                <a:ea typeface="Montserrat"/>
                <a:cs typeface="Montserrat"/>
              </a:rPr>
              <a:t>Seriti Resources, Arnot Colliery</a:t>
            </a:r>
            <a:endParaRPr lang="en-US" sz="1500"/>
          </a:p>
        </p:txBody>
      </p:sp>
      <p:sp>
        <p:nvSpPr>
          <p:cNvPr id="1182646274" name="Text 5"/>
          <p:cNvSpPr/>
          <p:nvPr/>
        </p:nvSpPr>
        <p:spPr bwMode="auto">
          <a:xfrm>
            <a:off x="1047750" y="2990750"/>
            <a:ext cx="3004235" cy="71864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33475E"/>
                </a:solidFill>
                <a:latin typeface="Inter"/>
                <a:ea typeface="Inter"/>
                <a:cs typeface="Inter"/>
              </a:rPr>
              <a:t>Building a plant to treat mine water and release it into the Bosmanspruit under its water use licence.</a:t>
            </a:r>
            <a:endParaRPr lang="en-US" sz="1300"/>
          </a:p>
        </p:txBody>
      </p:sp>
      <p:sp>
        <p:nvSpPr>
          <p:cNvPr id="838470705" name="Shape 6"/>
          <p:cNvSpPr/>
          <p:nvPr/>
        </p:nvSpPr>
        <p:spPr bwMode="auto">
          <a:xfrm>
            <a:off x="4405809" y="1936055"/>
            <a:ext cx="3380383" cy="2210792"/>
          </a:xfrm>
          <a:prstGeom prst="roundRect">
            <a:avLst>
              <a:gd name="adj" fmla="val 4452"/>
            </a:avLst>
          </a:prstGeom>
          <a:solidFill>
            <a:srgbClr val="FCFDFF"/>
          </a:solidFill>
          <a:ln w="6350">
            <a:solidFill>
              <a:srgbClr val="D6E2F0"/>
            </a:solidFill>
            <a:prstDash val="solid"/>
          </a:ln>
        </p:spPr>
      </p:sp>
      <p:sp>
        <p:nvSpPr>
          <p:cNvPr id="1757708997" name="Text 7"/>
          <p:cNvSpPr/>
          <p:nvPr/>
        </p:nvSpPr>
        <p:spPr bwMode="auto">
          <a:xfrm>
            <a:off x="4637584" y="2167830"/>
            <a:ext cx="3004338"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0B2545"/>
                </a:solidFill>
                <a:latin typeface="Inter"/>
                <a:ea typeface="Inter"/>
                <a:cs typeface="Inter"/>
              </a:rPr>
              <a:t>UNCONTROLLED RELEASE</a:t>
            </a:r>
            <a:endParaRPr lang="en-US" sz="1200"/>
          </a:p>
        </p:txBody>
      </p:sp>
      <p:sp>
        <p:nvSpPr>
          <p:cNvPr id="460766955" name="Text 8"/>
          <p:cNvSpPr/>
          <p:nvPr/>
        </p:nvSpPr>
        <p:spPr bwMode="auto">
          <a:xfrm>
            <a:off x="4637584" y="2457351"/>
            <a:ext cx="3004338" cy="4826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0B2545"/>
                </a:solidFill>
                <a:latin typeface="Montserrat"/>
                <a:ea typeface="Montserrat"/>
                <a:cs typeface="Montserrat"/>
              </a:rPr>
              <a:t>Woestalleen Colliery, near Hendrina</a:t>
            </a:r>
            <a:endParaRPr lang="en-US" sz="1500"/>
          </a:p>
        </p:txBody>
      </p:sp>
      <p:sp>
        <p:nvSpPr>
          <p:cNvPr id="141405236" name="Text 9"/>
          <p:cNvSpPr/>
          <p:nvPr/>
        </p:nvSpPr>
        <p:spPr bwMode="auto">
          <a:xfrm>
            <a:off x="4637584" y="2990750"/>
            <a:ext cx="3004338" cy="949722"/>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33475E"/>
                </a:solidFill>
                <a:latin typeface="Inter"/>
                <a:ea typeface="Inter"/>
                <a:cs typeface="Inter"/>
              </a:rPr>
              <a:t>DWS (Department of Water and Sanitation) opened a criminal case after suspending its licence for continued pollution.</a:t>
            </a:r>
            <a:endParaRPr lang="en-US" sz="1300"/>
          </a:p>
        </p:txBody>
      </p:sp>
      <p:sp>
        <p:nvSpPr>
          <p:cNvPr id="1507795277" name="Shape 10"/>
          <p:cNvSpPr/>
          <p:nvPr/>
        </p:nvSpPr>
        <p:spPr bwMode="auto">
          <a:xfrm>
            <a:off x="7995741" y="1936055"/>
            <a:ext cx="3380283" cy="2210792"/>
          </a:xfrm>
          <a:prstGeom prst="roundRect">
            <a:avLst>
              <a:gd name="adj" fmla="val 4452"/>
            </a:avLst>
          </a:prstGeom>
          <a:solidFill>
            <a:srgbClr val="FCFDFF"/>
          </a:solidFill>
          <a:ln w="6350">
            <a:solidFill>
              <a:srgbClr val="D6E2F0"/>
            </a:solidFill>
            <a:prstDash val="solid"/>
          </a:ln>
        </p:spPr>
      </p:sp>
      <p:sp>
        <p:nvSpPr>
          <p:cNvPr id="85712588" name="Text 11"/>
          <p:cNvSpPr/>
          <p:nvPr/>
        </p:nvSpPr>
        <p:spPr bwMode="auto">
          <a:xfrm>
            <a:off x="8227515" y="2167830"/>
            <a:ext cx="3004235"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B03022"/>
                </a:solidFill>
                <a:latin typeface="Inter"/>
                <a:ea typeface="Inter"/>
                <a:cs typeface="Inter"/>
              </a:rPr>
              <a:t>WHEN IT GETS OUT</a:t>
            </a:r>
            <a:endParaRPr lang="en-US" sz="1200"/>
          </a:p>
        </p:txBody>
      </p:sp>
      <p:sp>
        <p:nvSpPr>
          <p:cNvPr id="1272464627" name="Text 12"/>
          <p:cNvSpPr/>
          <p:nvPr/>
        </p:nvSpPr>
        <p:spPr bwMode="auto">
          <a:xfrm>
            <a:off x="8227515" y="2457351"/>
            <a:ext cx="3004235" cy="4826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0B2545"/>
                </a:solidFill>
                <a:latin typeface="Montserrat"/>
                <a:ea typeface="Montserrat"/>
                <a:cs typeface="Montserrat"/>
              </a:rPr>
              <a:t>Thungela Resources, Kromdraai mine</a:t>
            </a:r>
            <a:endParaRPr lang="en-US" sz="1500"/>
          </a:p>
        </p:txBody>
      </p:sp>
      <p:sp>
        <p:nvSpPr>
          <p:cNvPr id="1979738427" name="Text 13"/>
          <p:cNvSpPr/>
          <p:nvPr/>
        </p:nvSpPr>
        <p:spPr bwMode="auto">
          <a:xfrm>
            <a:off x="8227515" y="2990750"/>
            <a:ext cx="3004235" cy="949722"/>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33475E"/>
                </a:solidFill>
                <a:latin typeface="Inter"/>
                <a:ea typeface="Inter"/>
                <a:cs typeface="Inter"/>
              </a:rPr>
              <a:t>February 2022: water exceeded treatment capacity and killed 58 km of the Wilge River system within days.</a:t>
            </a:r>
            <a:endParaRPr lang="en-US" sz="1300"/>
          </a:p>
        </p:txBody>
      </p:sp>
      <p:sp>
        <p:nvSpPr>
          <p:cNvPr id="736630119" name="Shape 15"/>
          <p:cNvSpPr/>
          <p:nvPr/>
        </p:nvSpPr>
        <p:spPr bwMode="auto">
          <a:xfrm>
            <a:off x="3683000" y="4353223"/>
            <a:ext cx="3556000" cy="1404540"/>
          </a:xfrm>
          <a:prstGeom prst="roundRect">
            <a:avLst>
              <a:gd name="adj" fmla="val 7234"/>
            </a:avLst>
          </a:prstGeom>
          <a:solidFill>
            <a:srgbClr val="0B2545"/>
          </a:solidFill>
          <a:ln/>
        </p:spPr>
      </p:sp>
      <p:sp>
        <p:nvSpPr>
          <p:cNvPr id="1933381489" name="Text 16"/>
          <p:cNvSpPr/>
          <p:nvPr/>
        </p:nvSpPr>
        <p:spPr bwMode="auto">
          <a:xfrm>
            <a:off x="3911600" y="4531023"/>
            <a:ext cx="3191764" cy="594320"/>
          </a:xfrm>
          <a:prstGeom prst="rect">
            <a:avLst/>
          </a:prstGeom>
          <a:noFill/>
          <a:ln/>
        </p:spPr>
        <p:txBody>
          <a:bodyPr wrap="square" lIns="0" tIns="0" rIns="0" bIns="0" rtlCol="0" anchor="t">
            <a:normAutofit/>
          </a:bodyPr>
          <a:lstStyle/>
          <a:p>
            <a:pPr marL="0" indent="0" algn="l">
              <a:lnSpc>
                <a:spcPts val="4480"/>
              </a:lnSpc>
              <a:buNone/>
              <a:defRPr/>
            </a:pPr>
            <a:r>
              <a:rPr lang="en-US" sz="3200" b="1">
                <a:solidFill>
                  <a:srgbClr val="FCFDFF"/>
                </a:solidFill>
                <a:latin typeface="Montserrat"/>
                <a:ea typeface="Montserrat"/>
                <a:cs typeface="Montserrat"/>
              </a:rPr>
              <a:t>112 km</a:t>
            </a:r>
            <a:endParaRPr lang="en-US" sz="3200"/>
          </a:p>
        </p:txBody>
      </p:sp>
      <p:sp>
        <p:nvSpPr>
          <p:cNvPr id="1687516479" name="Text 17"/>
          <p:cNvSpPr/>
          <p:nvPr/>
        </p:nvSpPr>
        <p:spPr bwMode="auto">
          <a:xfrm>
            <a:off x="3911600" y="5150743"/>
            <a:ext cx="3191764" cy="454620"/>
          </a:xfrm>
          <a:prstGeom prst="rect">
            <a:avLst/>
          </a:prstGeom>
          <a:noFill/>
          <a:ln/>
        </p:spPr>
        <p:txBody>
          <a:bodyPr wrap="square" lIns="0" tIns="0" rIns="0" bIns="0" rtlCol="0" anchor="t">
            <a:normAutofit/>
          </a:bodyPr>
          <a:lstStyle/>
          <a:p>
            <a:pPr marL="0" indent="0" algn="l">
              <a:lnSpc>
                <a:spcPts val="1690"/>
              </a:lnSpc>
              <a:buNone/>
              <a:defRPr/>
            </a:pPr>
            <a:r>
              <a:rPr lang="en-US" sz="1300">
                <a:solidFill>
                  <a:srgbClr val="DCE8F5"/>
                </a:solidFill>
                <a:latin typeface="Inter"/>
                <a:ea typeface="Inter"/>
                <a:cs typeface="Inter"/>
              </a:rPr>
              <a:t>of river with no fish two years later. Clean up bill: about R1 billion.</a:t>
            </a:r>
            <a:endParaRPr lang="en-US" sz="1300"/>
          </a:p>
        </p:txBody>
      </p:sp>
      <p:sp>
        <p:nvSpPr>
          <p:cNvPr id="633757904" name="Shape 18"/>
          <p:cNvSpPr/>
          <p:nvPr/>
        </p:nvSpPr>
        <p:spPr bwMode="auto">
          <a:xfrm>
            <a:off x="7445375" y="4356398"/>
            <a:ext cx="3930650" cy="1398191"/>
          </a:xfrm>
          <a:prstGeom prst="roundRect">
            <a:avLst>
              <a:gd name="adj" fmla="val 7039"/>
            </a:avLst>
          </a:prstGeom>
          <a:solidFill>
            <a:srgbClr val="FCFDFF"/>
          </a:solidFill>
          <a:ln w="6350">
            <a:solidFill>
              <a:srgbClr val="D6E2F0"/>
            </a:solidFill>
            <a:prstDash val="solid"/>
          </a:ln>
        </p:spPr>
      </p:sp>
      <p:sp>
        <p:nvSpPr>
          <p:cNvPr id="1291334536" name="Text 19"/>
          <p:cNvSpPr/>
          <p:nvPr/>
        </p:nvSpPr>
        <p:spPr bwMode="auto">
          <a:xfrm>
            <a:off x="7677150" y="4581525"/>
            <a:ext cx="3571113"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0B2545"/>
                </a:solidFill>
                <a:latin typeface="Montserrat"/>
                <a:ea typeface="Montserrat"/>
                <a:cs typeface="Montserrat"/>
              </a:rPr>
              <a:t>Carolina, 2012</a:t>
            </a:r>
            <a:endParaRPr lang="en-US" sz="1500"/>
          </a:p>
        </p:txBody>
      </p:sp>
      <p:sp>
        <p:nvSpPr>
          <p:cNvPr id="1472537163" name="Text 20"/>
          <p:cNvSpPr/>
          <p:nvPr/>
        </p:nvSpPr>
        <p:spPr bwMode="auto">
          <a:xfrm>
            <a:off x="7677150" y="4860925"/>
            <a:ext cx="3571113" cy="693936"/>
          </a:xfrm>
          <a:prstGeom prst="rect">
            <a:avLst/>
          </a:prstGeom>
          <a:noFill/>
          <a:ln/>
        </p:spPr>
        <p:txBody>
          <a:bodyPr wrap="square" lIns="0" tIns="0" rIns="0" bIns="0" rtlCol="0" anchor="t">
            <a:normAutofit/>
          </a:bodyPr>
          <a:lstStyle/>
          <a:p>
            <a:pPr marL="0" indent="0" algn="l">
              <a:lnSpc>
                <a:spcPts val="1755"/>
              </a:lnSpc>
              <a:buNone/>
              <a:defRPr/>
            </a:pPr>
            <a:r>
              <a:rPr lang="en-US" sz="1300">
                <a:solidFill>
                  <a:srgbClr val="33475E"/>
                </a:solidFill>
                <a:latin typeface="Inter"/>
                <a:ea typeface="Inter"/>
                <a:cs typeface="Inter"/>
              </a:rPr>
              <a:t>Acidic mine water reached the town's supply dam. 17,000 residents lived on water tankers for nine months.</a:t>
            </a:r>
            <a:endParaRPr lang="en-US" sz="1300"/>
          </a:p>
        </p:txBody>
      </p:sp>
      <p:sp>
        <p:nvSpPr>
          <p:cNvPr id="853250251" name="Text 21"/>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4B5D73"/>
                </a:solidFill>
                <a:latin typeface="Inter"/>
                <a:ea typeface="Inter"/>
                <a:cs typeface="Inter"/>
              </a:rPr>
              <a:t>zMz</a:t>
            </a:r>
            <a:r>
              <a:rPr lang="en-US" sz="1200">
                <a:solidFill>
                  <a:srgbClr val="4B5D73"/>
                </a:solidFill>
                <a:latin typeface="Inter"/>
                <a:ea typeface="Inter"/>
                <a:cs typeface="Inter"/>
              </a:rPr>
              <a:t> | Kusile WaterGuard</a:t>
            </a:r>
            <a:endParaRPr lang="en-US" sz="1200"/>
          </a:p>
        </p:txBody>
      </p:sp>
      <p:sp>
        <p:nvSpPr>
          <p:cNvPr id="1999313131" name="Text 22"/>
          <p:cNvSpPr/>
          <p:nvPr/>
        </p:nvSpPr>
        <p:spPr bwMode="auto">
          <a:xfrm>
            <a:off x="3103265" y="6243340"/>
            <a:ext cx="7325258"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Sources: DWS (2020); Mail &amp; Guardian (2022); Daily Maverick (2024); Human Rights Watch (2022)</a:t>
            </a:r>
            <a:endParaRPr lang="en-US" sz="1200"/>
          </a:p>
        </p:txBody>
      </p:sp>
      <p:sp>
        <p:nvSpPr>
          <p:cNvPr id="1232599131" name="Text 23"/>
          <p:cNvSpPr/>
          <p:nvPr/>
        </p:nvSpPr>
        <p:spPr bwMode="auto">
          <a:xfrm>
            <a:off x="11286232" y="6243340"/>
            <a:ext cx="143768"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2</a:t>
            </a:r>
            <a:endParaRPr lang="en-US" sz="1200"/>
          </a:p>
        </p:txBody>
      </p:sp>
      <p:pic>
        <p:nvPicPr>
          <p:cNvPr id="383849388" name=""/>
          <p:cNvPicPr>
            <a:picLocks noChangeAspect="1"/>
          </p:cNvPicPr>
          <p:nvPr/>
        </p:nvPicPr>
        <p:blipFill rotWithShape="1">
          <a:blip r:embed="rId3"/>
          <a:stretch/>
        </p:blipFill>
        <p:spPr bwMode="auto">
          <a:xfrm flipH="0" flipV="0">
            <a:off x="815974" y="4353222"/>
            <a:ext cx="2596399" cy="1401365"/>
          </a:xfrm>
          <a:prstGeom prst="flowChartAlternateProcess">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CFDFF"/>
        </a:solidFill>
      </p:bgPr>
    </p:bg>
    <p:spTree>
      <p:nvGrpSpPr>
        <p:cNvPr id="1" name=""/>
        <p:cNvGrpSpPr/>
        <p:nvPr/>
      </p:nvGrpSpPr>
      <p:grpSpPr bwMode="auto">
        <a:xfrm>
          <a:off x="0" y="0"/>
          <a:ext cx="0" cy="0"/>
          <a:chOff x="0" y="0"/>
          <a:chExt cx="0" cy="0"/>
        </a:xfrm>
      </p:grpSpPr>
      <p:sp>
        <p:nvSpPr>
          <p:cNvPr id="979326041" name="Text 0"/>
          <p:cNvSpPr/>
          <p:nvPr/>
        </p:nvSpPr>
        <p:spPr bwMode="auto">
          <a:xfrm>
            <a:off x="812800" y="812800"/>
            <a:ext cx="10883392" cy="416223"/>
          </a:xfrm>
          <a:prstGeom prst="rect">
            <a:avLst/>
          </a:prstGeom>
          <a:noFill/>
          <a:ln/>
        </p:spPr>
        <p:txBody>
          <a:bodyPr wrap="square" lIns="0" tIns="0" rIns="0" bIns="0" rtlCol="0" anchor="t">
            <a:normAutofit/>
          </a:bodyPr>
          <a:lstStyle/>
          <a:p>
            <a:pPr marL="0" indent="0" algn="l">
              <a:lnSpc>
                <a:spcPts val="3124"/>
              </a:lnSpc>
              <a:buNone/>
              <a:defRPr/>
            </a:pPr>
            <a:r>
              <a:rPr lang="en-US" sz="2850" b="1">
                <a:solidFill>
                  <a:srgbClr val="0B2545"/>
                </a:solidFill>
                <a:latin typeface="Montserrat"/>
                <a:ea typeface="Montserrat"/>
                <a:cs typeface="Montserrat"/>
              </a:rPr>
              <a:t>What leaves the mine, untested</a:t>
            </a:r>
            <a:endParaRPr lang="en-US" sz="2850"/>
          </a:p>
        </p:txBody>
      </p:sp>
      <p:graphicFrame>
        <p:nvGraphicFramePr>
          <p:cNvPr id="1602838021" name="Table 0"/>
          <p:cNvGraphicFramePr>
            <a:graphicFrameLocks xmlns:a="http://schemas.openxmlformats.org/drawingml/2006/main" noGrp="1"/>
          </p:cNvGraphicFramePr>
          <p:nvPr/>
        </p:nvGraphicFramePr>
        <p:xfrm rot="0">
          <a:off x="812800" y="1457623"/>
          <a:ext cx="6096000" cy="3235424"/>
        </p:xfrm>
        <a:graphic>
          <a:graphicData uri="http://schemas.openxmlformats.org/drawingml/2006/table">
            <a:tbl>
              <a:tblPr firstRow="0" firstCol="0" lastRow="0" lastCol="0" bandRow="0" bandCol="0"/>
              <a:tblGrid>
                <a:gridCol w="2032000"/>
                <a:gridCol w="2032000"/>
                <a:gridCol w="2032000"/>
              </a:tblGrid>
              <a:tr h="396180">
                <a:tc>
                  <a:txBody>
                    <a:bodyPr/>
                    <a:p>
                      <a:pPr marL="0" indent="0">
                        <a:lnSpc>
                          <a:spcPts val="1820"/>
                        </a:lnSpc>
                        <a:buNone/>
                        <a:defRPr/>
                      </a:pPr>
                      <a:r>
                        <a:rPr lang="en-US" sz="1300" b="1">
                          <a:solidFill>
                            <a:srgbClr val="FCFDFF"/>
                          </a:solidFill>
                          <a:latin typeface="Inter"/>
                          <a:ea typeface="Inter"/>
                          <a:cs typeface="Inter"/>
                        </a:rPr>
                        <a:t>Measure</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solidFill>
                      <a:srgbClr val="002060"/>
                    </a:solidFill>
                  </a:tcPr>
                </a:tc>
                <a:tc>
                  <a:txBody>
                    <a:bodyPr/>
                    <a:p>
                      <a:pPr marL="0" indent="0">
                        <a:lnSpc>
                          <a:spcPts val="1820"/>
                        </a:lnSpc>
                        <a:buNone/>
                        <a:defRPr/>
                      </a:pPr>
                      <a:r>
                        <a:rPr lang="en-US" sz="1300" b="1">
                          <a:solidFill>
                            <a:srgbClr val="FCFDFF"/>
                          </a:solidFill>
                          <a:latin typeface="Inter"/>
                          <a:ea typeface="Inter"/>
                          <a:cs typeface="Inter"/>
                        </a:rPr>
                        <a:t>Sampled mine water</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solidFill>
                      <a:srgbClr val="002060"/>
                    </a:solidFill>
                  </a:tcPr>
                </a:tc>
                <a:tc>
                  <a:txBody>
                    <a:bodyPr/>
                    <a:p>
                      <a:pPr marL="0" indent="0">
                        <a:lnSpc>
                          <a:spcPts val="1820"/>
                        </a:lnSpc>
                        <a:buNone/>
                        <a:defRPr/>
                      </a:pPr>
                      <a:r>
                        <a:rPr lang="en-US" sz="1300" b="1">
                          <a:solidFill>
                            <a:srgbClr val="FCFDFF"/>
                          </a:solidFill>
                          <a:latin typeface="Inter"/>
                          <a:ea typeface="Inter"/>
                          <a:cs typeface="Inter"/>
                        </a:rPr>
                        <a:t>Target</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solidFill>
                      <a:srgbClr val="002060"/>
                    </a:solidFill>
                  </a:tcPr>
                </a:tc>
              </a:tr>
              <a:tr h="396180">
                <a:tc>
                  <a:txBody>
                    <a:bodyPr/>
                    <a:p>
                      <a:pPr marL="0" indent="0">
                        <a:lnSpc>
                          <a:spcPts val="1820"/>
                        </a:lnSpc>
                        <a:buNone/>
                        <a:defRPr/>
                      </a:pPr>
                      <a:r>
                        <a:rPr lang="en-US" sz="1300">
                          <a:solidFill>
                            <a:srgbClr val="0B2545"/>
                          </a:solidFill>
                          <a:latin typeface="Inter"/>
                          <a:ea typeface="Inter"/>
                          <a:cs typeface="Inter"/>
                        </a:rPr>
                        <a:t>pH</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B03022"/>
                          </a:solidFill>
                          <a:latin typeface="Inter"/>
                          <a:ea typeface="Inter"/>
                          <a:cs typeface="Inter"/>
                        </a:rPr>
                        <a:t>2.69 to 3.30</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5.5 to 9.5</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96180">
                <a:tc>
                  <a:txBody>
                    <a:bodyPr/>
                    <a:p>
                      <a:pPr marL="0" indent="0">
                        <a:lnSpc>
                          <a:spcPts val="1820"/>
                        </a:lnSpc>
                        <a:buNone/>
                        <a:defRPr/>
                      </a:pPr>
                      <a:r>
                        <a:rPr lang="en-US" sz="1300">
                          <a:solidFill>
                            <a:srgbClr val="0B2545"/>
                          </a:solidFill>
                          <a:latin typeface="Inter"/>
                          <a:ea typeface="Inter"/>
                          <a:cs typeface="Inter"/>
                        </a:rPr>
                        <a:t>Electrical conductivity</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B03022"/>
                          </a:solidFill>
                          <a:latin typeface="Inter"/>
                          <a:ea typeface="Inter"/>
                          <a:cs typeface="Inter"/>
                        </a:rPr>
                        <a:t>1,863 to 3,110 µS/cm</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1,000 µS/cm</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627261">
                <a:tc>
                  <a:txBody>
                    <a:bodyPr/>
                    <a:p>
                      <a:pPr marL="0" indent="0">
                        <a:lnSpc>
                          <a:spcPts val="1820"/>
                        </a:lnSpc>
                        <a:buNone/>
                        <a:defRPr/>
                      </a:pPr>
                      <a:r>
                        <a:rPr lang="en-US" sz="1300">
                          <a:solidFill>
                            <a:srgbClr val="0B2545"/>
                          </a:solidFill>
                          <a:latin typeface="Inter"/>
                          <a:ea typeface="Inter"/>
                          <a:cs typeface="Inter"/>
                        </a:rPr>
                        <a:t>TDS (Total Dissolved Solids)</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913 to 1,524 mg/L</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Not listed</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627261">
                <a:tc>
                  <a:txBody>
                    <a:bodyPr/>
                    <a:p>
                      <a:pPr marL="0" indent="0">
                        <a:lnSpc>
                          <a:spcPts val="1820"/>
                        </a:lnSpc>
                        <a:buNone/>
                        <a:defRPr/>
                      </a:pPr>
                      <a:r>
                        <a:rPr lang="en-US" sz="1300">
                          <a:solidFill>
                            <a:srgbClr val="0B2545"/>
                          </a:solidFill>
                          <a:latin typeface="Inter"/>
                          <a:ea typeface="Inter"/>
                          <a:cs typeface="Inter"/>
                        </a:rPr>
                        <a:t>Iron</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B03022"/>
                          </a:solidFill>
                          <a:latin typeface="Inter"/>
                          <a:ea typeface="Inter"/>
                          <a:cs typeface="Inter"/>
                        </a:rPr>
                        <a:t>20 to 56 mg/L</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Above discharge guideline</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96180">
                <a:tc>
                  <a:txBody>
                    <a:bodyPr/>
                    <a:p>
                      <a:pPr marL="0" indent="0">
                        <a:lnSpc>
                          <a:spcPts val="1820"/>
                        </a:lnSpc>
                        <a:buNone/>
                        <a:defRPr/>
                      </a:pPr>
                      <a:r>
                        <a:rPr lang="en-US" sz="1300">
                          <a:solidFill>
                            <a:srgbClr val="0B2545"/>
                          </a:solidFill>
                          <a:latin typeface="Inter"/>
                          <a:ea typeface="Inter"/>
                          <a:cs typeface="Inter"/>
                        </a:rPr>
                        <a:t>Aluminium</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51 to 89 mg/L</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Not listed</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96180">
                <a:tc>
                  <a:txBody>
                    <a:bodyPr/>
                    <a:p>
                      <a:pPr marL="0" indent="0">
                        <a:lnSpc>
                          <a:spcPts val="1820"/>
                        </a:lnSpc>
                        <a:buNone/>
                        <a:defRPr/>
                      </a:pPr>
                      <a:r>
                        <a:rPr lang="en-US" sz="1300">
                          <a:solidFill>
                            <a:srgbClr val="0B2545"/>
                          </a:solidFill>
                          <a:latin typeface="Inter"/>
                          <a:ea typeface="Inter"/>
                          <a:cs typeface="Inter"/>
                        </a:rPr>
                        <a:t>Manganese</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9 to 21 mg/L</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820"/>
                        </a:lnSpc>
                        <a:buNone/>
                        <a:defRPr/>
                      </a:pPr>
                      <a:r>
                        <a:rPr lang="en-US" sz="1300">
                          <a:solidFill>
                            <a:srgbClr val="0B2545"/>
                          </a:solidFill>
                          <a:latin typeface="Inter"/>
                          <a:ea typeface="Inter"/>
                          <a:cs typeface="Inter"/>
                        </a:rPr>
                        <a:t>Not listed</a:t>
                      </a:r>
                      <a:endParaRPr lang="en-US" sz="1300">
                        <a:latin typeface="Inter"/>
                        <a:ea typeface="Inter"/>
                        <a:cs typeface="Inter"/>
                      </a:endParaRPr>
                    </a:p>
                  </a:txBody>
                  <a:tcPr marL="101600" marR="101600" marT="76200" marB="762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bl>
          </a:graphicData>
        </a:graphic>
      </p:graphicFrame>
      <p:sp>
        <p:nvSpPr>
          <p:cNvPr id="1016356346" name="Text 1"/>
          <p:cNvSpPr/>
          <p:nvPr/>
        </p:nvSpPr>
        <p:spPr bwMode="auto">
          <a:xfrm>
            <a:off x="7315200" y="1457623"/>
            <a:ext cx="4185920" cy="1076722"/>
          </a:xfrm>
          <a:prstGeom prst="rect">
            <a:avLst/>
          </a:prstGeom>
          <a:noFill/>
          <a:ln/>
        </p:spPr>
        <p:txBody>
          <a:bodyPr wrap="square" lIns="0" tIns="0" rIns="0" bIns="0" rtlCol="0" anchor="t">
            <a:normAutofit/>
          </a:bodyPr>
          <a:lstStyle/>
          <a:p>
            <a:pPr marL="0" indent="0" algn="l">
              <a:lnSpc>
                <a:spcPts val="2760"/>
              </a:lnSpc>
              <a:buNone/>
              <a:defRPr/>
            </a:pPr>
            <a:r>
              <a:rPr lang="en-US" sz="2400" b="1">
                <a:solidFill>
                  <a:srgbClr val="1560BD"/>
                </a:solidFill>
                <a:latin typeface="Montserrat"/>
                <a:ea typeface="Montserrat"/>
                <a:cs typeface="Montserrat"/>
              </a:rPr>
              <a:t>A spill takes hours. A monthly test finds it weeks later.</a:t>
            </a:r>
            <a:endParaRPr lang="en-US" sz="2400"/>
          </a:p>
        </p:txBody>
      </p:sp>
      <p:sp>
        <p:nvSpPr>
          <p:cNvPr id="1921089594" name="Text 2"/>
          <p:cNvSpPr/>
          <p:nvPr/>
        </p:nvSpPr>
        <p:spPr bwMode="auto">
          <a:xfrm>
            <a:off x="7315200" y="2661345"/>
            <a:ext cx="4185920" cy="71864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33475E"/>
                </a:solidFill>
                <a:latin typeface="Inter"/>
                <a:ea typeface="Inter"/>
                <a:cs typeface="Inter"/>
              </a:rPr>
              <a:t>The regulator failed to monitor mines' water licence compliance. Some Olifants River stations were cut from weekly to monthly sampling.</a:t>
            </a:r>
            <a:endParaRPr lang="en-US" sz="1300"/>
          </a:p>
        </p:txBody>
      </p:sp>
      <p:sp>
        <p:nvSpPr>
          <p:cNvPr id="620737824" name="Shape 3"/>
          <p:cNvSpPr/>
          <p:nvPr/>
        </p:nvSpPr>
        <p:spPr bwMode="auto">
          <a:xfrm>
            <a:off x="791120" y="4875540"/>
            <a:ext cx="10566400" cy="1290042"/>
          </a:xfrm>
          <a:prstGeom prst="roundRect">
            <a:avLst>
              <a:gd name="adj" fmla="val 7876"/>
            </a:avLst>
          </a:prstGeom>
          <a:solidFill>
            <a:srgbClr val="0B2545"/>
          </a:solidFill>
          <a:ln/>
        </p:spPr>
      </p:sp>
      <p:sp>
        <p:nvSpPr>
          <p:cNvPr id="960565844" name="Text 4"/>
          <p:cNvSpPr/>
          <p:nvPr/>
        </p:nvSpPr>
        <p:spPr bwMode="auto">
          <a:xfrm>
            <a:off x="1066799" y="5030512"/>
            <a:ext cx="10360152" cy="210542"/>
          </a:xfrm>
          <a:prstGeom prst="rect">
            <a:avLst/>
          </a:prstGeom>
          <a:noFill/>
          <a:ln/>
        </p:spPr>
        <p:txBody>
          <a:bodyPr wrap="square" lIns="0" tIns="0" rIns="0" bIns="0" rtlCol="0" anchor="t">
            <a:normAutofit/>
          </a:bodyPr>
          <a:lstStyle/>
          <a:p>
            <a:pPr marL="0" indent="0" algn="l">
              <a:lnSpc>
                <a:spcPts val="1470"/>
              </a:lnSpc>
              <a:buNone/>
              <a:defRPr/>
            </a:pPr>
            <a:r>
              <a:rPr lang="en-US" sz="1050" b="1" spc="200">
                <a:solidFill>
                  <a:srgbClr val="9CC8F2"/>
                </a:solidFill>
                <a:latin typeface="Inter"/>
                <a:ea typeface="Inter"/>
                <a:cs typeface="Inter"/>
              </a:rPr>
              <a:t>PROBLEM STATEMENT</a:t>
            </a:r>
            <a:endParaRPr lang="en-US" sz="1050"/>
          </a:p>
        </p:txBody>
      </p:sp>
      <p:sp>
        <p:nvSpPr>
          <p:cNvPr id="748316330" name="Text 5"/>
          <p:cNvSpPr/>
          <p:nvPr/>
        </p:nvSpPr>
        <p:spPr bwMode="auto">
          <a:xfrm>
            <a:off x="1066799" y="5320082"/>
            <a:ext cx="10360152" cy="673100"/>
          </a:xfrm>
          <a:prstGeom prst="rect">
            <a:avLst/>
          </a:prstGeom>
          <a:noFill/>
          <a:ln/>
        </p:spPr>
        <p:txBody>
          <a:bodyPr wrap="square" lIns="0" tIns="0" rIns="0" bIns="0" rtlCol="0" anchor="t">
            <a:normAutofit/>
          </a:bodyPr>
          <a:lstStyle/>
          <a:p>
            <a:pPr marL="0" indent="0" algn="l">
              <a:lnSpc>
                <a:spcPts val="1709"/>
              </a:lnSpc>
              <a:buNone/>
              <a:defRPr/>
            </a:pPr>
            <a:r>
              <a:rPr lang="en-US" sz="1200">
                <a:solidFill>
                  <a:srgbClr val="FCFDFF"/>
                </a:solidFill>
                <a:latin typeface="Inter"/>
                <a:ea typeface="Inter"/>
                <a:cs typeface="Inter"/>
              </a:rPr>
              <a:t>Mpumalanga's mine water reaches rivers through licensed releases, overflows, illegal decanting and abandoned mines, and nobody tests it at the moment it leaves. Mpumalanga needs an affordable, on site system that tests mine water before release and stops water that is not clean</a:t>
            </a:r>
            <a:endParaRPr lang="en-US" sz="1200"/>
          </a:p>
        </p:txBody>
      </p:sp>
      <p:sp>
        <p:nvSpPr>
          <p:cNvPr id="853923368" name="Text 6"/>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4B5D73"/>
                </a:solidFill>
                <a:latin typeface="Inter"/>
                <a:ea typeface="Inter"/>
                <a:cs typeface="Inter"/>
              </a:rPr>
              <a:t>zMz</a:t>
            </a:r>
            <a:r>
              <a:rPr lang="en-US" sz="1200">
                <a:solidFill>
                  <a:srgbClr val="4B5D73"/>
                </a:solidFill>
                <a:latin typeface="Inter"/>
                <a:ea typeface="Inter"/>
                <a:cs typeface="Inter"/>
              </a:rPr>
              <a:t> | Kusile WaterGuard</a:t>
            </a:r>
            <a:endParaRPr lang="en-US" sz="1200"/>
          </a:p>
        </p:txBody>
      </p:sp>
      <p:sp>
        <p:nvSpPr>
          <p:cNvPr id="2036846686" name="Text 7"/>
          <p:cNvSpPr/>
          <p:nvPr/>
        </p:nvSpPr>
        <p:spPr bwMode="auto">
          <a:xfrm>
            <a:off x="4218781" y="6243340"/>
            <a:ext cx="502617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Sources: [eMalahleni study]; Centre for Environmental Rights (2019)</a:t>
            </a:r>
            <a:endParaRPr lang="en-US" sz="1200"/>
          </a:p>
        </p:txBody>
      </p:sp>
      <p:sp>
        <p:nvSpPr>
          <p:cNvPr id="1494578625" name="Text 8"/>
          <p:cNvSpPr/>
          <p:nvPr/>
        </p:nvSpPr>
        <p:spPr bwMode="auto">
          <a:xfrm>
            <a:off x="11285041" y="6243340"/>
            <a:ext cx="14495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3</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1560BD"/>
        </a:solidFill>
      </p:bgPr>
    </p:bg>
    <p:spTree>
      <p:nvGrpSpPr>
        <p:cNvPr id="1" name=""/>
        <p:cNvGrpSpPr/>
        <p:nvPr/>
      </p:nvGrpSpPr>
      <p:grpSpPr bwMode="auto">
        <a:xfrm>
          <a:off x="0" y="0"/>
          <a:ext cx="0" cy="0"/>
          <a:chOff x="0" y="0"/>
          <a:chExt cx="0" cy="0"/>
        </a:xfrm>
      </p:grpSpPr>
      <p:sp>
        <p:nvSpPr>
          <p:cNvPr id="355702362" name="Text 0"/>
          <p:cNvSpPr/>
          <p:nvPr/>
        </p:nvSpPr>
        <p:spPr bwMode="auto">
          <a:xfrm>
            <a:off x="812800" y="1155898"/>
            <a:ext cx="10883392" cy="238720"/>
          </a:xfrm>
          <a:prstGeom prst="rect">
            <a:avLst/>
          </a:prstGeom>
          <a:noFill/>
          <a:ln/>
        </p:spPr>
        <p:txBody>
          <a:bodyPr wrap="square" lIns="0" tIns="0" rIns="0" bIns="0" rtlCol="0" anchor="t">
            <a:normAutofit/>
          </a:bodyPr>
          <a:lstStyle/>
          <a:p>
            <a:pPr marL="0" indent="0" algn="l">
              <a:lnSpc>
                <a:spcPts val="1680"/>
              </a:lnSpc>
              <a:buNone/>
              <a:defRPr/>
            </a:pPr>
            <a:r>
              <a:rPr lang="en-US" sz="1200" b="1" spc="200">
                <a:solidFill>
                  <a:srgbClr val="CFE3F8"/>
                </a:solidFill>
                <a:latin typeface="Inter"/>
                <a:ea typeface="Inter"/>
                <a:cs typeface="Inter"/>
              </a:rPr>
              <a:t>THE SOLUTION</a:t>
            </a:r>
            <a:endParaRPr lang="en-US" sz="1200"/>
          </a:p>
        </p:txBody>
      </p:sp>
      <p:sp>
        <p:nvSpPr>
          <p:cNvPr id="116340575" name="Text 1"/>
          <p:cNvSpPr/>
          <p:nvPr/>
        </p:nvSpPr>
        <p:spPr bwMode="auto">
          <a:xfrm>
            <a:off x="812800" y="1648619"/>
            <a:ext cx="10883392" cy="843161"/>
          </a:xfrm>
          <a:prstGeom prst="rect">
            <a:avLst/>
          </a:prstGeom>
          <a:noFill/>
          <a:ln/>
        </p:spPr>
        <p:txBody>
          <a:bodyPr wrap="square" lIns="0" tIns="0" rIns="0" bIns="0" rtlCol="0" anchor="t">
            <a:normAutofit/>
          </a:bodyPr>
          <a:lstStyle/>
          <a:p>
            <a:pPr marL="0" indent="0" algn="l">
              <a:lnSpc>
                <a:spcPts val="3220"/>
              </a:lnSpc>
              <a:buNone/>
              <a:defRPr/>
            </a:pPr>
            <a:r>
              <a:rPr lang="en-US" sz="2800" b="1">
                <a:solidFill>
                  <a:srgbClr val="FCFDFF"/>
                </a:solidFill>
                <a:latin typeface="Montserrat"/>
                <a:ea typeface="Montserrat"/>
                <a:cs typeface="Montserrat"/>
              </a:rPr>
              <a:t>What if the water had been tested before it left the mine?</a:t>
            </a:r>
            <a:endParaRPr lang="en-US" sz="2800"/>
          </a:p>
        </p:txBody>
      </p:sp>
      <p:sp>
        <p:nvSpPr>
          <p:cNvPr id="1412438285" name="Text 2"/>
          <p:cNvSpPr/>
          <p:nvPr/>
        </p:nvSpPr>
        <p:spPr bwMode="auto">
          <a:xfrm>
            <a:off x="812800" y="2745780"/>
            <a:ext cx="10883392" cy="843161"/>
          </a:xfrm>
          <a:prstGeom prst="rect">
            <a:avLst/>
          </a:prstGeom>
          <a:noFill/>
          <a:ln/>
        </p:spPr>
        <p:txBody>
          <a:bodyPr wrap="square" lIns="0" tIns="0" rIns="0" bIns="0" rtlCol="0" anchor="t">
            <a:normAutofit/>
          </a:bodyPr>
          <a:lstStyle/>
          <a:p>
            <a:pPr marL="0" indent="0" algn="l">
              <a:lnSpc>
                <a:spcPts val="3220"/>
              </a:lnSpc>
              <a:buNone/>
              <a:defRPr/>
            </a:pPr>
            <a:r>
              <a:rPr lang="en-US" sz="2800" b="1">
                <a:solidFill>
                  <a:srgbClr val="FCFDFF"/>
                </a:solidFill>
                <a:latin typeface="Montserrat"/>
                <a:ea typeface="Montserrat"/>
                <a:cs typeface="Montserrat"/>
              </a:rPr>
              <a:t>What if the Sindane family knew the water their cattle drink is clean?</a:t>
            </a:r>
            <a:endParaRPr lang="en-US" sz="2800"/>
          </a:p>
        </p:txBody>
      </p:sp>
      <p:sp>
        <p:nvSpPr>
          <p:cNvPr id="417875577" name="Text 3"/>
          <p:cNvSpPr/>
          <p:nvPr/>
        </p:nvSpPr>
        <p:spPr bwMode="auto">
          <a:xfrm>
            <a:off x="812800" y="3842941"/>
            <a:ext cx="10883392" cy="843161"/>
          </a:xfrm>
          <a:prstGeom prst="rect">
            <a:avLst/>
          </a:prstGeom>
          <a:noFill/>
          <a:ln/>
        </p:spPr>
        <p:txBody>
          <a:bodyPr wrap="square" lIns="0" tIns="0" rIns="0" bIns="0" rtlCol="0" anchor="t">
            <a:normAutofit/>
          </a:bodyPr>
          <a:lstStyle/>
          <a:p>
            <a:pPr marL="0" indent="0" algn="l">
              <a:lnSpc>
                <a:spcPts val="3220"/>
              </a:lnSpc>
              <a:buNone/>
              <a:defRPr/>
            </a:pPr>
            <a:r>
              <a:rPr lang="en-US" sz="2800" b="1">
                <a:solidFill>
                  <a:srgbClr val="FCFDFF"/>
                </a:solidFill>
                <a:latin typeface="Montserrat"/>
                <a:ea typeface="Montserrat"/>
                <a:cs typeface="Montserrat"/>
              </a:rPr>
              <a:t>What if every litre leaving a coal mine had to pass a test first?</a:t>
            </a:r>
            <a:endParaRPr lang="en-US" sz="2800"/>
          </a:p>
        </p:txBody>
      </p:sp>
      <p:sp>
        <p:nvSpPr>
          <p:cNvPr id="573360570" name="Text 4"/>
          <p:cNvSpPr/>
          <p:nvPr/>
        </p:nvSpPr>
        <p:spPr bwMode="auto">
          <a:xfrm>
            <a:off x="812800" y="4940101"/>
            <a:ext cx="10883392" cy="584200"/>
          </a:xfrm>
          <a:prstGeom prst="rect">
            <a:avLst/>
          </a:prstGeom>
          <a:noFill/>
          <a:ln/>
        </p:spPr>
        <p:txBody>
          <a:bodyPr wrap="square" lIns="0" tIns="0" rIns="0" bIns="0" rtlCol="0" anchor="t">
            <a:normAutofit/>
          </a:bodyPr>
          <a:lstStyle/>
          <a:p>
            <a:pPr marL="0" indent="0" algn="l">
              <a:lnSpc>
                <a:spcPts val="4400"/>
              </a:lnSpc>
              <a:buNone/>
              <a:defRPr/>
            </a:pPr>
            <a:r>
              <a:rPr lang="en-US" sz="4000" b="1">
                <a:solidFill>
                  <a:srgbClr val="FCFDFF"/>
                </a:solidFill>
                <a:latin typeface="Montserrat"/>
                <a:ea typeface="Montserrat"/>
                <a:cs typeface="Montserrat"/>
              </a:rPr>
              <a:t>That's why we built </a:t>
            </a:r>
            <a:r>
              <a:rPr lang="en-US" sz="4000" b="1">
                <a:solidFill>
                  <a:srgbClr val="0B2545"/>
                </a:solidFill>
                <a:latin typeface="Montserrat"/>
                <a:ea typeface="Montserrat"/>
                <a:cs typeface="Montserrat"/>
              </a:rPr>
              <a:t>Kusile WaterGuard.</a:t>
            </a:r>
            <a:endParaRPr lang="en-US" sz="4000"/>
          </a:p>
        </p:txBody>
      </p:sp>
      <p:sp>
        <p:nvSpPr>
          <p:cNvPr id="119466485" name="Text 5"/>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CFE3F8"/>
                </a:solidFill>
                <a:latin typeface="Inter"/>
                <a:ea typeface="Inter"/>
                <a:cs typeface="Inter"/>
              </a:rPr>
              <a:t>zMz</a:t>
            </a:r>
            <a:r>
              <a:rPr lang="en-US" sz="1200">
                <a:solidFill>
                  <a:srgbClr val="CFE3F8"/>
                </a:solidFill>
                <a:latin typeface="Inter"/>
                <a:ea typeface="Inter"/>
                <a:cs typeface="Inter"/>
              </a:rPr>
              <a:t> | Kusile WaterGuard</a:t>
            </a:r>
            <a:endParaRPr lang="en-US" sz="1200"/>
          </a:p>
        </p:txBody>
      </p:sp>
      <p:sp>
        <p:nvSpPr>
          <p:cNvPr id="1942787777" name="Text 6"/>
          <p:cNvSpPr/>
          <p:nvPr/>
        </p:nvSpPr>
        <p:spPr bwMode="auto">
          <a:xfrm>
            <a:off x="11280676" y="6243340"/>
            <a:ext cx="149324"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CFE3F8"/>
                </a:solidFill>
                <a:latin typeface="Inter"/>
                <a:ea typeface="Inter"/>
                <a:cs typeface="Inter"/>
              </a:rPr>
              <a:t>4</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3F7FC"/>
        </a:solidFill>
      </p:bgPr>
    </p:bg>
    <p:spTree>
      <p:nvGrpSpPr>
        <p:cNvPr id="1" name=""/>
        <p:cNvGrpSpPr/>
        <p:nvPr/>
      </p:nvGrpSpPr>
      <p:grpSpPr bwMode="auto">
        <a:xfrm>
          <a:off x="0" y="0"/>
          <a:ext cx="0" cy="0"/>
          <a:chOff x="0" y="0"/>
          <a:chExt cx="0" cy="0"/>
        </a:xfrm>
      </p:grpSpPr>
      <p:sp>
        <p:nvSpPr>
          <p:cNvPr id="1708502777" name="Text 0"/>
          <p:cNvSpPr/>
          <p:nvPr/>
        </p:nvSpPr>
        <p:spPr bwMode="auto">
          <a:xfrm>
            <a:off x="812800" y="812800"/>
            <a:ext cx="10883392" cy="472380"/>
          </a:xfrm>
          <a:prstGeom prst="rect">
            <a:avLst/>
          </a:prstGeom>
          <a:noFill/>
          <a:ln/>
        </p:spPr>
        <p:txBody>
          <a:bodyPr wrap="square" lIns="0" tIns="0" rIns="0" bIns="0" rtlCol="0" anchor="t">
            <a:normAutofit/>
          </a:bodyPr>
          <a:lstStyle/>
          <a:p>
            <a:pPr marL="0" indent="0" algn="l">
              <a:lnSpc>
                <a:spcPts val="3520"/>
              </a:lnSpc>
              <a:buNone/>
              <a:defRPr/>
            </a:pPr>
            <a:r>
              <a:rPr lang="en-US" sz="3200" b="1">
                <a:solidFill>
                  <a:srgbClr val="0B2545"/>
                </a:solidFill>
                <a:latin typeface="Montserrat"/>
                <a:ea typeface="Montserrat"/>
                <a:cs typeface="Montserrat"/>
              </a:rPr>
              <a:t>A smart gate between the dam and the river</a:t>
            </a:r>
            <a:endParaRPr lang="en-US" sz="3200"/>
          </a:p>
        </p:txBody>
      </p:sp>
      <p:sp>
        <p:nvSpPr>
          <p:cNvPr id="1158064965" name="Text 1"/>
          <p:cNvSpPr/>
          <p:nvPr/>
        </p:nvSpPr>
        <p:spPr bwMode="auto">
          <a:xfrm>
            <a:off x="812800" y="1513780"/>
            <a:ext cx="3924300" cy="1020763"/>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33475E"/>
                </a:solidFill>
                <a:latin typeface="Inter"/>
                <a:ea typeface="Inter"/>
                <a:cs typeface="Inter"/>
              </a:rPr>
              <a:t>Kusile WaterGuard is a low cost node at the outlet of a mine's pollution control dam. It tests water in batches, releases only clean water, and holds back and treats water that fails.</a:t>
            </a:r>
            <a:endParaRPr lang="en-US" sz="1400"/>
          </a:p>
        </p:txBody>
      </p:sp>
      <p:sp>
        <p:nvSpPr>
          <p:cNvPr id="1518646236" name="Shape 2"/>
          <p:cNvSpPr/>
          <p:nvPr/>
        </p:nvSpPr>
        <p:spPr bwMode="auto">
          <a:xfrm>
            <a:off x="815975" y="2664718"/>
            <a:ext cx="3803650" cy="1052711"/>
          </a:xfrm>
          <a:prstGeom prst="roundRect">
            <a:avLst>
              <a:gd name="adj" fmla="val 9350"/>
            </a:avLst>
          </a:prstGeom>
          <a:solidFill>
            <a:srgbClr val="FCFDFF"/>
          </a:solidFill>
          <a:ln w="6350">
            <a:solidFill>
              <a:srgbClr val="D6E2F0"/>
            </a:solidFill>
            <a:prstDash val="solid"/>
          </a:ln>
        </p:spPr>
      </p:sp>
      <p:sp>
        <p:nvSpPr>
          <p:cNvPr id="2022646834" name="Text 3"/>
          <p:cNvSpPr/>
          <p:nvPr/>
        </p:nvSpPr>
        <p:spPr bwMode="auto">
          <a:xfrm>
            <a:off x="996950" y="2845692"/>
            <a:ext cx="3544951" cy="238720"/>
          </a:xfrm>
          <a:prstGeom prst="rect">
            <a:avLst/>
          </a:prstGeom>
          <a:noFill/>
          <a:ln/>
        </p:spPr>
        <p:txBody>
          <a:bodyPr wrap="square" lIns="0" tIns="0" rIns="0" bIns="0" rtlCol="0" anchor="t">
            <a:normAutofit/>
          </a:bodyPr>
          <a:lstStyle/>
          <a:p>
            <a:pPr marL="0" indent="0" algn="l">
              <a:lnSpc>
                <a:spcPts val="1680"/>
              </a:lnSpc>
              <a:buNone/>
              <a:defRPr/>
            </a:pPr>
            <a:r>
              <a:rPr lang="en-US" sz="1400" b="1">
                <a:solidFill>
                  <a:srgbClr val="1560BD"/>
                </a:solidFill>
                <a:latin typeface="Montserrat"/>
                <a:ea typeface="Montserrat"/>
                <a:cs typeface="Montserrat"/>
              </a:rPr>
              <a:t>Licensed releases</a:t>
            </a:r>
            <a:endParaRPr lang="en-US" sz="1400"/>
          </a:p>
        </p:txBody>
      </p:sp>
      <p:sp>
        <p:nvSpPr>
          <p:cNvPr id="1166680088" name="Text 4"/>
          <p:cNvSpPr/>
          <p:nvPr/>
        </p:nvSpPr>
        <p:spPr bwMode="auto">
          <a:xfrm>
            <a:off x="996950" y="3109813"/>
            <a:ext cx="3544951" cy="452041"/>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3475E"/>
                </a:solidFill>
                <a:latin typeface="Inter"/>
                <a:ea typeface="Inter"/>
                <a:cs typeface="Inter"/>
              </a:rPr>
              <a:t>Proves every batch meets the licence limits, with an automatic record.</a:t>
            </a:r>
            <a:endParaRPr lang="en-US" sz="1200"/>
          </a:p>
        </p:txBody>
      </p:sp>
      <p:sp>
        <p:nvSpPr>
          <p:cNvPr id="1596248522" name="Shape 5"/>
          <p:cNvSpPr/>
          <p:nvPr/>
        </p:nvSpPr>
        <p:spPr bwMode="auto">
          <a:xfrm>
            <a:off x="815975" y="3876179"/>
            <a:ext cx="3803650" cy="1052711"/>
          </a:xfrm>
          <a:prstGeom prst="roundRect">
            <a:avLst>
              <a:gd name="adj" fmla="val 9350"/>
            </a:avLst>
          </a:prstGeom>
          <a:solidFill>
            <a:srgbClr val="FCFDFF"/>
          </a:solidFill>
          <a:ln w="6350">
            <a:solidFill>
              <a:srgbClr val="D6E2F0"/>
            </a:solidFill>
            <a:prstDash val="solid"/>
          </a:ln>
        </p:spPr>
      </p:sp>
      <p:sp>
        <p:nvSpPr>
          <p:cNvPr id="1510257409" name="Text 6"/>
          <p:cNvSpPr/>
          <p:nvPr/>
        </p:nvSpPr>
        <p:spPr bwMode="auto">
          <a:xfrm>
            <a:off x="996950" y="4057154"/>
            <a:ext cx="3544951" cy="238720"/>
          </a:xfrm>
          <a:prstGeom prst="rect">
            <a:avLst/>
          </a:prstGeom>
          <a:noFill/>
          <a:ln/>
        </p:spPr>
        <p:txBody>
          <a:bodyPr wrap="square" lIns="0" tIns="0" rIns="0" bIns="0" rtlCol="0" anchor="t">
            <a:normAutofit/>
          </a:bodyPr>
          <a:lstStyle/>
          <a:p>
            <a:pPr marL="0" indent="0" algn="l">
              <a:lnSpc>
                <a:spcPts val="1680"/>
              </a:lnSpc>
              <a:buNone/>
              <a:defRPr/>
            </a:pPr>
            <a:r>
              <a:rPr lang="en-US" sz="1400" b="1">
                <a:solidFill>
                  <a:srgbClr val="1560BD"/>
                </a:solidFill>
                <a:latin typeface="Montserrat"/>
                <a:ea typeface="Montserrat"/>
                <a:cs typeface="Montserrat"/>
              </a:rPr>
              <a:t>Uncontrolled releases</a:t>
            </a:r>
            <a:endParaRPr lang="en-US" sz="1400"/>
          </a:p>
        </p:txBody>
      </p:sp>
      <p:sp>
        <p:nvSpPr>
          <p:cNvPr id="854709339" name="Text 7"/>
          <p:cNvSpPr/>
          <p:nvPr/>
        </p:nvSpPr>
        <p:spPr bwMode="auto">
          <a:xfrm>
            <a:off x="996950" y="4321274"/>
            <a:ext cx="3544951" cy="452041"/>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3475E"/>
                </a:solidFill>
                <a:latin typeface="Inter"/>
                <a:ea typeface="Inter"/>
                <a:cs typeface="Inter"/>
              </a:rPr>
              <a:t>Stops dirty water from leaving and raises the alarm when something goes wrong.</a:t>
            </a:r>
            <a:endParaRPr lang="en-US" sz="1200"/>
          </a:p>
        </p:txBody>
      </p:sp>
      <p:sp>
        <p:nvSpPr>
          <p:cNvPr id="22033785" name="Text 8"/>
          <p:cNvSpPr/>
          <p:nvPr/>
        </p:nvSpPr>
        <p:spPr bwMode="auto">
          <a:xfrm>
            <a:off x="812800" y="5084465"/>
            <a:ext cx="3924300" cy="452041"/>
          </a:xfrm>
          <a:prstGeom prst="rect">
            <a:avLst/>
          </a:prstGeom>
          <a:noFill/>
          <a:ln/>
        </p:spPr>
        <p:txBody>
          <a:bodyPr wrap="square" lIns="0" tIns="0" rIns="0" bIns="0" rtlCol="0" anchor="t">
            <a:normAutofit/>
          </a:bodyPr>
          <a:lstStyle/>
          <a:p>
            <a:pPr marL="0" indent="0" algn="l">
              <a:lnSpc>
                <a:spcPts val="3360"/>
              </a:lnSpc>
              <a:buNone/>
              <a:defRPr/>
            </a:pPr>
            <a:r>
              <a:rPr lang="en-US" sz="2400" b="1">
                <a:solidFill>
                  <a:srgbClr val="1560BD"/>
                </a:solidFill>
                <a:latin typeface="Montserrat"/>
                <a:ea typeface="Montserrat"/>
                <a:cs typeface="Montserrat"/>
              </a:rPr>
              <a:t>No test, no release.</a:t>
            </a:r>
            <a:endParaRPr lang="en-US" sz="2400"/>
          </a:p>
        </p:txBody>
      </p:sp>
      <p:graphicFrame>
        <p:nvGraphicFramePr>
          <p:cNvPr id="1634938148" name="Table 0"/>
          <p:cNvGraphicFramePr>
            <a:graphicFrameLocks xmlns:a="http://schemas.openxmlformats.org/drawingml/2006/main" noGrp="1"/>
          </p:cNvGraphicFramePr>
          <p:nvPr/>
        </p:nvGraphicFramePr>
        <p:xfrm rot="0">
          <a:off x="4978400" y="1513780"/>
          <a:ext cx="6400800" cy="2999383"/>
        </p:xfrm>
        <a:graphic>
          <a:graphicData uri="http://schemas.openxmlformats.org/drawingml/2006/table">
            <a:tbl>
              <a:tblPr firstRow="0" firstCol="0" lastRow="0" lastCol="0" bandRow="0" bandCol="0"/>
              <a:tblGrid>
                <a:gridCol w="3200400"/>
                <a:gridCol w="3200400"/>
              </a:tblGrid>
              <a:tr h="429220">
                <a:tc>
                  <a:txBody>
                    <a:bodyPr/>
                    <a:p>
                      <a:pPr marL="0" indent="0">
                        <a:lnSpc>
                          <a:spcPts val="1680"/>
                        </a:lnSpc>
                        <a:buNone/>
                        <a:defRPr/>
                      </a:pPr>
                      <a:r>
                        <a:rPr lang="en-US" sz="1200" b="1">
                          <a:solidFill>
                            <a:srgbClr val="FCFDFF"/>
                          </a:solidFill>
                          <a:latin typeface="Inter"/>
                          <a:ea typeface="Inter"/>
                          <a:cs typeface="Inter"/>
                        </a:rPr>
                        <a:t>The gap today</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solidFill>
                      <a:srgbClr val="002060"/>
                    </a:solidFill>
                  </a:tcPr>
                </a:tc>
                <a:tc>
                  <a:txBody>
                    <a:bodyPr/>
                    <a:p>
                      <a:pPr marL="0" indent="0">
                        <a:lnSpc>
                          <a:spcPts val="1680"/>
                        </a:lnSpc>
                        <a:buNone/>
                        <a:defRPr/>
                      </a:pPr>
                      <a:r>
                        <a:rPr lang="en-US" sz="1200" b="1">
                          <a:solidFill>
                            <a:srgbClr val="FCFDFF"/>
                          </a:solidFill>
                          <a:latin typeface="Inter"/>
                          <a:ea typeface="Inter"/>
                          <a:cs typeface="Inter"/>
                        </a:rPr>
                        <a:t>How AcidShield closes it</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solidFill>
                      <a:srgbClr val="002060"/>
                    </a:solidFill>
                  </a:tcPr>
                </a:tc>
              </a:tr>
              <a:tr h="642541">
                <a:tc>
                  <a:txBody>
                    <a:bodyPr/>
                    <a:p>
                      <a:pPr marL="0" indent="0">
                        <a:lnSpc>
                          <a:spcPts val="1680"/>
                        </a:lnSpc>
                        <a:buNone/>
                        <a:defRPr/>
                      </a:pPr>
                      <a:r>
                        <a:rPr lang="en-US" sz="1200">
                          <a:solidFill>
                            <a:srgbClr val="0B2545"/>
                          </a:solidFill>
                          <a:latin typeface="Inter"/>
                          <a:ea typeface="Inter"/>
                          <a:cs typeface="Inter"/>
                        </a:rPr>
                        <a:t>Testing is too late: some river stations sample only monthly</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Tests every batch on site, before release</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642541">
                <a:tc>
                  <a:txBody>
                    <a:bodyPr/>
                    <a:p>
                      <a:pPr marL="0" indent="0">
                        <a:lnSpc>
                          <a:spcPts val="1680"/>
                        </a:lnSpc>
                        <a:buNone/>
                        <a:defRPr/>
                      </a:pPr>
                      <a:r>
                        <a:rPr lang="en-US" sz="1200">
                          <a:solidFill>
                            <a:srgbClr val="0B2545"/>
                          </a:solidFill>
                          <a:latin typeface="Inter"/>
                          <a:ea typeface="Inter"/>
                          <a:cs typeface="Inter"/>
                        </a:rPr>
                        <a:t>Storms overwhelm treatment, as at Kromdraai</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If the treatment tank is full, the batch is held, not released</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642541">
                <a:tc>
                  <a:txBody>
                    <a:bodyPr/>
                    <a:p>
                      <a:pPr marL="0" indent="0">
                        <a:lnSpc>
                          <a:spcPts val="1680"/>
                        </a:lnSpc>
                        <a:buNone/>
                        <a:defRPr/>
                      </a:pPr>
                      <a:r>
                        <a:rPr lang="en-US" sz="1200">
                          <a:solidFill>
                            <a:srgbClr val="0B2545"/>
                          </a:solidFill>
                          <a:latin typeface="Inter"/>
                          <a:ea typeface="Inter"/>
                          <a:cs typeface="Inter"/>
                        </a:rPr>
                        <a:t>Mines' licence compliance is not monitored</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Logs every release: batch, result, time and route</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642541">
                <a:tc>
                  <a:txBody>
                    <a:bodyPr/>
                    <a:p>
                      <a:pPr marL="0" indent="0">
                        <a:lnSpc>
                          <a:spcPts val="1680"/>
                        </a:lnSpc>
                        <a:buNone/>
                        <a:defRPr/>
                      </a:pPr>
                      <a:r>
                        <a:rPr lang="en-US" sz="1200">
                          <a:solidFill>
                            <a:srgbClr val="0B2545"/>
                          </a:solidFill>
                          <a:latin typeface="Inter"/>
                          <a:ea typeface="Inter"/>
                          <a:cs typeface="Inter"/>
                        </a:rPr>
                        <a:t>Plants are huge: about R300 million for eMalahleni's original 25 ML/day plant</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A low cost node at every dam outlet</a:t>
                      </a:r>
                      <a:endParaRPr lang="en-US" sz="1200">
                        <a:latin typeface="Inter"/>
                        <a:ea typeface="Inter"/>
                        <a:cs typeface="Inter"/>
                      </a:endParaRPr>
                    </a:p>
                  </a:txBody>
                  <a:tcPr marL="114300" marR="114300" marT="101600" marB="1016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bl>
          </a:graphicData>
        </a:graphic>
      </p:graphicFrame>
      <p:sp>
        <p:nvSpPr>
          <p:cNvPr id="1574001223" name="Text 9"/>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4B5D73"/>
                </a:solidFill>
                <a:latin typeface="Inter"/>
                <a:ea typeface="Inter"/>
                <a:cs typeface="Inter"/>
              </a:rPr>
              <a:t>zMz</a:t>
            </a:r>
            <a:r>
              <a:rPr lang="en-US" sz="1200">
                <a:solidFill>
                  <a:srgbClr val="4B5D73"/>
                </a:solidFill>
                <a:latin typeface="Inter"/>
                <a:ea typeface="Inter"/>
                <a:cs typeface="Inter"/>
              </a:rPr>
              <a:t> | Kusile WaterGuard</a:t>
            </a:r>
            <a:endParaRPr lang="en-US" sz="1200"/>
          </a:p>
        </p:txBody>
      </p:sp>
      <p:sp>
        <p:nvSpPr>
          <p:cNvPr id="1672773735" name="Text 10"/>
          <p:cNvSpPr/>
          <p:nvPr/>
        </p:nvSpPr>
        <p:spPr bwMode="auto">
          <a:xfrm>
            <a:off x="6080620" y="6243340"/>
            <a:ext cx="121046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ML = megalitres</a:t>
            </a:r>
            <a:endParaRPr lang="en-US" sz="1200"/>
          </a:p>
        </p:txBody>
      </p:sp>
      <p:sp>
        <p:nvSpPr>
          <p:cNvPr id="1346413104" name="Text 11"/>
          <p:cNvSpPr/>
          <p:nvPr/>
        </p:nvSpPr>
        <p:spPr bwMode="auto">
          <a:xfrm>
            <a:off x="11288713" y="6243340"/>
            <a:ext cx="141288"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5</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CFDFF"/>
        </a:solidFill>
      </p:bgPr>
    </p:bg>
    <p:spTree>
      <p:nvGrpSpPr>
        <p:cNvPr id="1" name=""/>
        <p:cNvGrpSpPr/>
        <p:nvPr/>
      </p:nvGrpSpPr>
      <p:grpSpPr bwMode="auto">
        <a:xfrm>
          <a:off x="0" y="0"/>
          <a:ext cx="0" cy="0"/>
          <a:chOff x="0" y="0"/>
          <a:chExt cx="0" cy="0"/>
        </a:xfrm>
      </p:grpSpPr>
      <p:sp>
        <p:nvSpPr>
          <p:cNvPr id="1210497799" name="Text 0"/>
          <p:cNvSpPr/>
          <p:nvPr/>
        </p:nvSpPr>
        <p:spPr bwMode="auto">
          <a:xfrm>
            <a:off x="812800" y="812800"/>
            <a:ext cx="10883392" cy="416520"/>
          </a:xfrm>
          <a:prstGeom prst="rect">
            <a:avLst/>
          </a:prstGeom>
          <a:noFill/>
          <a:ln/>
        </p:spPr>
        <p:txBody>
          <a:bodyPr wrap="square" lIns="0" tIns="0" rIns="0" bIns="0" rtlCol="0" anchor="t">
            <a:normAutofit/>
          </a:bodyPr>
          <a:lstStyle/>
          <a:p>
            <a:pPr marL="0" indent="0" algn="l">
              <a:lnSpc>
                <a:spcPts val="3080"/>
              </a:lnSpc>
              <a:buNone/>
              <a:defRPr/>
            </a:pPr>
            <a:r>
              <a:rPr lang="en-US" sz="2800" b="1">
                <a:solidFill>
                  <a:srgbClr val="0B2545"/>
                </a:solidFill>
                <a:latin typeface="Montserrat"/>
                <a:ea typeface="Montserrat"/>
                <a:cs typeface="Montserrat"/>
              </a:rPr>
              <a:t>Methodology: test before release</a:t>
            </a:r>
            <a:endParaRPr lang="en-US" sz="2800"/>
          </a:p>
        </p:txBody>
      </p:sp>
      <p:sp>
        <p:nvSpPr>
          <p:cNvPr id="540503120" name="Shape 1"/>
          <p:cNvSpPr/>
          <p:nvPr/>
        </p:nvSpPr>
        <p:spPr bwMode="auto">
          <a:xfrm>
            <a:off x="812800" y="1407120"/>
            <a:ext cx="2011660" cy="1470422"/>
          </a:xfrm>
          <a:prstGeom prst="roundRect">
            <a:avLst>
              <a:gd name="adj" fmla="val 6910"/>
            </a:avLst>
          </a:prstGeom>
          <a:solidFill>
            <a:srgbClr val="EAF2FB"/>
          </a:solidFill>
          <a:ln/>
        </p:spPr>
      </p:sp>
      <p:sp>
        <p:nvSpPr>
          <p:cNvPr id="1423918210" name="Shape 2"/>
          <p:cNvSpPr/>
          <p:nvPr/>
        </p:nvSpPr>
        <p:spPr bwMode="auto">
          <a:xfrm>
            <a:off x="812800" y="1432520"/>
            <a:ext cx="2011660" cy="0"/>
          </a:xfrm>
          <a:prstGeom prst="line">
            <a:avLst/>
          </a:prstGeom>
          <a:noFill/>
          <a:ln w="50800">
            <a:solidFill>
              <a:srgbClr val="1560BD"/>
            </a:solidFill>
            <a:prstDash val="solid"/>
          </a:ln>
        </p:spPr>
      </p:sp>
      <p:sp>
        <p:nvSpPr>
          <p:cNvPr id="865147343" name="Text 3"/>
          <p:cNvSpPr/>
          <p:nvPr/>
        </p:nvSpPr>
        <p:spPr bwMode="auto">
          <a:xfrm>
            <a:off x="965200" y="1610320"/>
            <a:ext cx="1758066"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1560BD"/>
                </a:solidFill>
                <a:latin typeface="Montserrat"/>
                <a:ea typeface="Montserrat"/>
                <a:cs typeface="Montserrat"/>
              </a:rPr>
              <a:t>1. Fill</a:t>
            </a:r>
            <a:endParaRPr lang="en-US" sz="1500"/>
          </a:p>
        </p:txBody>
      </p:sp>
      <p:sp>
        <p:nvSpPr>
          <p:cNvPr id="174542037" name="Text 4"/>
          <p:cNvSpPr/>
          <p:nvPr/>
        </p:nvSpPr>
        <p:spPr bwMode="auto">
          <a:xfrm>
            <a:off x="965200" y="1902420"/>
            <a:ext cx="1758066" cy="642441"/>
          </a:xfrm>
          <a:prstGeom prst="rect">
            <a:avLst/>
          </a:prstGeom>
          <a:noFill/>
          <a:ln/>
        </p:spPr>
        <p:txBody>
          <a:bodyPr wrap="square" lIns="0" tIns="0" rIns="0" bIns="0" rtlCol="0" anchor="t">
            <a:normAutofit/>
          </a:bodyPr>
          <a:lstStyle/>
          <a:p>
            <a:pPr marL="0" indent="0" algn="l">
              <a:lnSpc>
                <a:spcPts val="1620"/>
              </a:lnSpc>
              <a:buNone/>
              <a:defRPr/>
            </a:pPr>
            <a:r>
              <a:rPr lang="en-US" sz="1200">
                <a:solidFill>
                  <a:srgbClr val="33475E"/>
                </a:solidFill>
                <a:latin typeface="Inter"/>
                <a:ea typeface="Inter"/>
                <a:cs typeface="Inter"/>
              </a:rPr>
              <a:t>Sump pump fills the check chamber, then stops at 100 L</a:t>
            </a:r>
            <a:endParaRPr lang="en-US" sz="1200"/>
          </a:p>
        </p:txBody>
      </p:sp>
      <p:sp>
        <p:nvSpPr>
          <p:cNvPr id="733140988" name="Shape 5"/>
          <p:cNvSpPr/>
          <p:nvPr/>
        </p:nvSpPr>
        <p:spPr bwMode="auto">
          <a:xfrm>
            <a:off x="2951460" y="1407120"/>
            <a:ext cx="2011759" cy="1470422"/>
          </a:xfrm>
          <a:prstGeom prst="roundRect">
            <a:avLst>
              <a:gd name="adj" fmla="val 6910"/>
            </a:avLst>
          </a:prstGeom>
          <a:solidFill>
            <a:srgbClr val="EAF2FB"/>
          </a:solidFill>
          <a:ln/>
        </p:spPr>
      </p:sp>
      <p:sp>
        <p:nvSpPr>
          <p:cNvPr id="1583241949" name="Shape 6"/>
          <p:cNvSpPr/>
          <p:nvPr/>
        </p:nvSpPr>
        <p:spPr bwMode="auto">
          <a:xfrm>
            <a:off x="2951460" y="1432520"/>
            <a:ext cx="2011759" cy="0"/>
          </a:xfrm>
          <a:prstGeom prst="line">
            <a:avLst/>
          </a:prstGeom>
          <a:noFill/>
          <a:ln w="50800">
            <a:solidFill>
              <a:srgbClr val="1560BD"/>
            </a:solidFill>
            <a:prstDash val="solid"/>
          </a:ln>
        </p:spPr>
      </p:sp>
      <p:sp>
        <p:nvSpPr>
          <p:cNvPr id="257139714" name="Text 7"/>
          <p:cNvSpPr/>
          <p:nvPr/>
        </p:nvSpPr>
        <p:spPr bwMode="auto">
          <a:xfrm>
            <a:off x="3103860" y="1610320"/>
            <a:ext cx="1758168"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1560BD"/>
                </a:solidFill>
                <a:latin typeface="Montserrat"/>
                <a:ea typeface="Montserrat"/>
                <a:cs typeface="Montserrat"/>
              </a:rPr>
              <a:t>2. Test</a:t>
            </a:r>
            <a:endParaRPr lang="en-US" sz="1500"/>
          </a:p>
        </p:txBody>
      </p:sp>
      <p:sp>
        <p:nvSpPr>
          <p:cNvPr id="1213821546" name="Text 8"/>
          <p:cNvSpPr/>
          <p:nvPr/>
        </p:nvSpPr>
        <p:spPr bwMode="auto">
          <a:xfrm>
            <a:off x="3103860" y="1902420"/>
            <a:ext cx="1758168" cy="436761"/>
          </a:xfrm>
          <a:prstGeom prst="rect">
            <a:avLst/>
          </a:prstGeom>
          <a:noFill/>
          <a:ln/>
        </p:spPr>
        <p:txBody>
          <a:bodyPr wrap="square" lIns="0" tIns="0" rIns="0" bIns="0" rtlCol="0" anchor="t">
            <a:normAutofit/>
          </a:bodyPr>
          <a:lstStyle/>
          <a:p>
            <a:pPr marL="0" indent="0" algn="l">
              <a:lnSpc>
                <a:spcPts val="1620"/>
              </a:lnSpc>
              <a:buNone/>
              <a:defRPr/>
            </a:pPr>
            <a:r>
              <a:rPr lang="en-US" sz="1200">
                <a:solidFill>
                  <a:srgbClr val="33475E"/>
                </a:solidFill>
                <a:latin typeface="Inter"/>
                <a:ea typeface="Inter"/>
                <a:cs typeface="Inter"/>
              </a:rPr>
              <a:t>Controller averages the pH and TDS readings</a:t>
            </a:r>
            <a:endParaRPr lang="en-US" sz="1200"/>
          </a:p>
        </p:txBody>
      </p:sp>
      <p:sp>
        <p:nvSpPr>
          <p:cNvPr id="408353839" name="Shape 9"/>
          <p:cNvSpPr/>
          <p:nvPr/>
        </p:nvSpPr>
        <p:spPr bwMode="auto">
          <a:xfrm>
            <a:off x="5090220" y="1407120"/>
            <a:ext cx="2011660" cy="1470422"/>
          </a:xfrm>
          <a:prstGeom prst="roundRect">
            <a:avLst>
              <a:gd name="adj" fmla="val 6910"/>
            </a:avLst>
          </a:prstGeom>
          <a:solidFill>
            <a:srgbClr val="0B2545"/>
          </a:solidFill>
          <a:ln/>
        </p:spPr>
      </p:sp>
      <p:sp>
        <p:nvSpPr>
          <p:cNvPr id="103241824" name="Shape 10"/>
          <p:cNvSpPr/>
          <p:nvPr/>
        </p:nvSpPr>
        <p:spPr bwMode="auto">
          <a:xfrm>
            <a:off x="5090220" y="1432520"/>
            <a:ext cx="2011660" cy="0"/>
          </a:xfrm>
          <a:prstGeom prst="line">
            <a:avLst/>
          </a:prstGeom>
          <a:noFill/>
          <a:ln w="50800">
            <a:solidFill>
              <a:srgbClr val="9CC8F2"/>
            </a:solidFill>
            <a:prstDash val="solid"/>
          </a:ln>
        </p:spPr>
      </p:sp>
      <p:sp>
        <p:nvSpPr>
          <p:cNvPr id="2122261160" name="Text 11"/>
          <p:cNvSpPr/>
          <p:nvPr/>
        </p:nvSpPr>
        <p:spPr bwMode="auto">
          <a:xfrm>
            <a:off x="5242620" y="1610320"/>
            <a:ext cx="1758066"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9CC8F2"/>
                </a:solidFill>
                <a:latin typeface="Montserrat"/>
                <a:ea typeface="Montserrat"/>
                <a:cs typeface="Montserrat"/>
              </a:rPr>
              <a:t>3. Decide</a:t>
            </a:r>
            <a:endParaRPr lang="en-US" sz="1500"/>
          </a:p>
        </p:txBody>
      </p:sp>
      <p:sp>
        <p:nvSpPr>
          <p:cNvPr id="469672513" name="Text 12"/>
          <p:cNvSpPr/>
          <p:nvPr/>
        </p:nvSpPr>
        <p:spPr bwMode="auto">
          <a:xfrm>
            <a:off x="5242620" y="1902420"/>
            <a:ext cx="1758066" cy="848122"/>
          </a:xfrm>
          <a:prstGeom prst="rect">
            <a:avLst/>
          </a:prstGeom>
          <a:noFill/>
          <a:ln/>
        </p:spPr>
        <p:txBody>
          <a:bodyPr wrap="square" lIns="0" tIns="0" rIns="0" bIns="0" rtlCol="0" anchor="t">
            <a:normAutofit/>
          </a:bodyPr>
          <a:lstStyle/>
          <a:p>
            <a:pPr marL="0" indent="0" algn="l">
              <a:lnSpc>
                <a:spcPts val="1620"/>
              </a:lnSpc>
              <a:buNone/>
              <a:defRPr/>
            </a:pPr>
            <a:r>
              <a:rPr lang="en-US" sz="1200">
                <a:solidFill>
                  <a:srgbClr val="FCFDFF"/>
                </a:solidFill>
                <a:latin typeface="Inter"/>
                <a:ea typeface="Inter"/>
                <a:cs typeface="Inter"/>
              </a:rPr>
              <a:t>Pass: pH ≥ 6.5 and TDS ≤ 1,200 mg/L, V1 to river. Fail: V2 to treatment tank</a:t>
            </a:r>
            <a:endParaRPr lang="en-US" sz="1200"/>
          </a:p>
        </p:txBody>
      </p:sp>
      <p:sp>
        <p:nvSpPr>
          <p:cNvPr id="1699510397" name="Shape 13"/>
          <p:cNvSpPr/>
          <p:nvPr/>
        </p:nvSpPr>
        <p:spPr bwMode="auto">
          <a:xfrm>
            <a:off x="7228880" y="1407120"/>
            <a:ext cx="2011660" cy="1470422"/>
          </a:xfrm>
          <a:prstGeom prst="roundRect">
            <a:avLst>
              <a:gd name="adj" fmla="val 6910"/>
            </a:avLst>
          </a:prstGeom>
          <a:solidFill>
            <a:srgbClr val="EAF2FB"/>
          </a:solidFill>
          <a:ln/>
        </p:spPr>
      </p:sp>
      <p:sp>
        <p:nvSpPr>
          <p:cNvPr id="103500745" name="Shape 14"/>
          <p:cNvSpPr/>
          <p:nvPr/>
        </p:nvSpPr>
        <p:spPr bwMode="auto">
          <a:xfrm>
            <a:off x="7228880" y="1432520"/>
            <a:ext cx="2011660" cy="0"/>
          </a:xfrm>
          <a:prstGeom prst="line">
            <a:avLst/>
          </a:prstGeom>
          <a:noFill/>
          <a:ln w="50800">
            <a:solidFill>
              <a:srgbClr val="1560BD"/>
            </a:solidFill>
            <a:prstDash val="solid"/>
          </a:ln>
        </p:spPr>
      </p:sp>
      <p:sp>
        <p:nvSpPr>
          <p:cNvPr id="672532779" name="Text 15"/>
          <p:cNvSpPr/>
          <p:nvPr/>
        </p:nvSpPr>
        <p:spPr bwMode="auto">
          <a:xfrm>
            <a:off x="7381280" y="1610320"/>
            <a:ext cx="1758066"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1560BD"/>
                </a:solidFill>
                <a:latin typeface="Montserrat"/>
                <a:ea typeface="Montserrat"/>
                <a:cs typeface="Montserrat"/>
              </a:rPr>
              <a:t>4. Treat</a:t>
            </a:r>
            <a:endParaRPr lang="en-US" sz="1500"/>
          </a:p>
        </p:txBody>
      </p:sp>
      <p:sp>
        <p:nvSpPr>
          <p:cNvPr id="1950823789" name="Text 16"/>
          <p:cNvSpPr/>
          <p:nvPr/>
        </p:nvSpPr>
        <p:spPr bwMode="auto">
          <a:xfrm>
            <a:off x="7381280" y="1902420"/>
            <a:ext cx="1758066" cy="642441"/>
          </a:xfrm>
          <a:prstGeom prst="rect">
            <a:avLst/>
          </a:prstGeom>
          <a:noFill/>
          <a:ln/>
        </p:spPr>
        <p:txBody>
          <a:bodyPr wrap="square" lIns="0" tIns="0" rIns="0" bIns="0" rtlCol="0" anchor="t">
            <a:normAutofit/>
          </a:bodyPr>
          <a:lstStyle/>
          <a:p>
            <a:pPr marL="0" indent="0" algn="l">
              <a:lnSpc>
                <a:spcPts val="1620"/>
              </a:lnSpc>
              <a:buNone/>
              <a:defRPr/>
            </a:pPr>
            <a:r>
              <a:rPr lang="en-US" sz="1200">
                <a:solidFill>
                  <a:srgbClr val="33475E"/>
                </a:solidFill>
                <a:latin typeface="Inter"/>
                <a:ea typeface="Inter"/>
                <a:cs typeface="Inter"/>
              </a:rPr>
              <a:t>Dosing pump adds neutraliser until tank pH reaches 6.8</a:t>
            </a:r>
            <a:endParaRPr lang="en-US" sz="1200"/>
          </a:p>
        </p:txBody>
      </p:sp>
      <p:sp>
        <p:nvSpPr>
          <p:cNvPr id="1450530678" name="Shape 17"/>
          <p:cNvSpPr/>
          <p:nvPr/>
        </p:nvSpPr>
        <p:spPr bwMode="auto">
          <a:xfrm>
            <a:off x="9367540" y="1407120"/>
            <a:ext cx="2011660" cy="1470422"/>
          </a:xfrm>
          <a:prstGeom prst="roundRect">
            <a:avLst>
              <a:gd name="adj" fmla="val 6910"/>
            </a:avLst>
          </a:prstGeom>
          <a:solidFill>
            <a:srgbClr val="EAF2FB"/>
          </a:solidFill>
          <a:ln/>
        </p:spPr>
      </p:sp>
      <p:sp>
        <p:nvSpPr>
          <p:cNvPr id="998130294" name="Shape 18"/>
          <p:cNvSpPr/>
          <p:nvPr/>
        </p:nvSpPr>
        <p:spPr bwMode="auto">
          <a:xfrm>
            <a:off x="9367540" y="1432520"/>
            <a:ext cx="2011660" cy="0"/>
          </a:xfrm>
          <a:prstGeom prst="line">
            <a:avLst/>
          </a:prstGeom>
          <a:noFill/>
          <a:ln w="50800">
            <a:solidFill>
              <a:srgbClr val="1560BD"/>
            </a:solidFill>
            <a:prstDash val="solid"/>
          </a:ln>
        </p:spPr>
      </p:sp>
      <p:sp>
        <p:nvSpPr>
          <p:cNvPr id="1252089809" name="Text 19"/>
          <p:cNvSpPr/>
          <p:nvPr/>
        </p:nvSpPr>
        <p:spPr bwMode="auto">
          <a:xfrm>
            <a:off x="9519940" y="1610320"/>
            <a:ext cx="1758066"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1560BD"/>
                </a:solidFill>
                <a:latin typeface="Montserrat"/>
                <a:ea typeface="Montserrat"/>
                <a:cs typeface="Montserrat"/>
              </a:rPr>
              <a:t>5. Release</a:t>
            </a:r>
            <a:endParaRPr lang="en-US" sz="1500"/>
          </a:p>
        </p:txBody>
      </p:sp>
      <p:sp>
        <p:nvSpPr>
          <p:cNvPr id="845366982" name="Text 20"/>
          <p:cNvSpPr/>
          <p:nvPr/>
        </p:nvSpPr>
        <p:spPr bwMode="auto">
          <a:xfrm>
            <a:off x="9519940" y="1902420"/>
            <a:ext cx="1758066" cy="642441"/>
          </a:xfrm>
          <a:prstGeom prst="rect">
            <a:avLst/>
          </a:prstGeom>
          <a:noFill/>
          <a:ln/>
        </p:spPr>
        <p:txBody>
          <a:bodyPr wrap="square" lIns="0" tIns="0" rIns="0" bIns="0" rtlCol="0" anchor="t">
            <a:normAutofit/>
          </a:bodyPr>
          <a:lstStyle/>
          <a:p>
            <a:pPr marL="0" indent="0" algn="l">
              <a:lnSpc>
                <a:spcPts val="1620"/>
              </a:lnSpc>
              <a:buNone/>
              <a:defRPr/>
            </a:pPr>
            <a:r>
              <a:rPr lang="en-US" sz="1200">
                <a:solidFill>
                  <a:srgbClr val="33475E"/>
                </a:solidFill>
                <a:latin typeface="Inter"/>
                <a:ea typeface="Inter"/>
                <a:cs typeface="Inter"/>
              </a:rPr>
              <a:t>pH safe for 3 seconds, then V3 releases treated water</a:t>
            </a:r>
            <a:endParaRPr lang="en-US" sz="1200"/>
          </a:p>
        </p:txBody>
      </p:sp>
      <p:graphicFrame>
        <p:nvGraphicFramePr>
          <p:cNvPr id="1761759017" name="Table 0"/>
          <p:cNvGraphicFramePr>
            <a:graphicFrameLocks xmlns:a="http://schemas.openxmlformats.org/drawingml/2006/main" noGrp="1"/>
          </p:cNvGraphicFramePr>
          <p:nvPr/>
        </p:nvGraphicFramePr>
        <p:xfrm rot="0">
          <a:off x="812800" y="3080742"/>
          <a:ext cx="6096000" cy="2471142"/>
        </p:xfrm>
        <a:graphic>
          <a:graphicData uri="http://schemas.openxmlformats.org/drawingml/2006/table">
            <a:tbl>
              <a:tblPr firstRow="0" firstCol="0" lastRow="0" lastCol="0" bandRow="0" bandCol="0"/>
              <a:tblGrid>
                <a:gridCol w="3048000"/>
                <a:gridCol w="3048000"/>
              </a:tblGrid>
              <a:tr h="353020">
                <a:tc>
                  <a:txBody>
                    <a:bodyPr/>
                    <a:p>
                      <a:pPr marL="0" indent="0">
                        <a:lnSpc>
                          <a:spcPts val="1680"/>
                        </a:lnSpc>
                        <a:buNone/>
                        <a:defRPr/>
                      </a:pPr>
                      <a:r>
                        <a:rPr lang="en-US" sz="1200" b="1">
                          <a:solidFill>
                            <a:srgbClr val="FCFDFF"/>
                          </a:solidFill>
                          <a:latin typeface="Inter"/>
                          <a:ea typeface="Inter"/>
                          <a:cs typeface="Inter"/>
                        </a:rPr>
                        <a:t>Real device</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solidFill>
                      <a:srgbClr val="002060"/>
                    </a:solidFill>
                  </a:tcPr>
                </a:tc>
                <a:tc>
                  <a:txBody>
                    <a:bodyPr/>
                    <a:p>
                      <a:pPr marL="0" indent="0">
                        <a:lnSpc>
                          <a:spcPts val="1680"/>
                        </a:lnSpc>
                        <a:buNone/>
                        <a:defRPr/>
                      </a:pPr>
                      <a:r>
                        <a:rPr lang="en-US" sz="1200" b="1">
                          <a:solidFill>
                            <a:srgbClr val="FCFDFF"/>
                          </a:solidFill>
                          <a:latin typeface="Inter"/>
                          <a:ea typeface="Inter"/>
                          <a:cs typeface="Inter"/>
                        </a:rPr>
                        <a:t>Tinkercad replacement</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solidFill>
                      <a:srgbClr val="002060"/>
                    </a:solidFill>
                  </a:tcPr>
                </a:tc>
              </a:tr>
              <a:tr h="353020">
                <a:tc>
                  <a:txBody>
                    <a:bodyPr/>
                    <a:p>
                      <a:pPr marL="0" indent="0">
                        <a:lnSpc>
                          <a:spcPts val="1680"/>
                        </a:lnSpc>
                        <a:buNone/>
                        <a:defRPr/>
                      </a:pPr>
                      <a:r>
                        <a:rPr lang="en-US" sz="1200">
                          <a:solidFill>
                            <a:srgbClr val="0B2545"/>
                          </a:solidFill>
                          <a:latin typeface="Inter"/>
                          <a:ea typeface="Inter"/>
                          <a:cs typeface="Inter"/>
                        </a:rPr>
                        <a:t>ESP32 microcontroller</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Arduino Uno</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53020">
                <a:tc>
                  <a:txBody>
                    <a:bodyPr/>
                    <a:p>
                      <a:pPr marL="0" indent="0">
                        <a:lnSpc>
                          <a:spcPts val="1680"/>
                        </a:lnSpc>
                        <a:buNone/>
                        <a:defRPr/>
                      </a:pPr>
                      <a:r>
                        <a:rPr lang="en-US" sz="1200">
                          <a:solidFill>
                            <a:srgbClr val="0B2545"/>
                          </a:solidFill>
                          <a:latin typeface="Inter"/>
                          <a:ea typeface="Inter"/>
                          <a:cs typeface="Inter"/>
                        </a:rPr>
                        <a:t>pH and TDS probes</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Potentiometers</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53020">
                <a:tc>
                  <a:txBody>
                    <a:bodyPr/>
                    <a:p>
                      <a:pPr marL="0" indent="0">
                        <a:lnSpc>
                          <a:spcPts val="1680"/>
                        </a:lnSpc>
                        <a:buNone/>
                        <a:defRPr/>
                      </a:pPr>
                      <a:r>
                        <a:rPr lang="en-US" sz="1200">
                          <a:solidFill>
                            <a:srgbClr val="0B2545"/>
                          </a:solidFill>
                          <a:latin typeface="Inter"/>
                          <a:ea typeface="Inter"/>
                          <a:cs typeface="Inter"/>
                        </a:rPr>
                        <a:t>Solenoid valves V1, V2, V3</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Micro servos (0° shut, 90° open)</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53020">
                <a:tc>
                  <a:txBody>
                    <a:bodyPr/>
                    <a:p>
                      <a:pPr marL="0" indent="0">
                        <a:lnSpc>
                          <a:spcPts val="1680"/>
                        </a:lnSpc>
                        <a:buNone/>
                        <a:defRPr/>
                      </a:pPr>
                      <a:r>
                        <a:rPr lang="en-US" sz="1200">
                          <a:solidFill>
                            <a:srgbClr val="0B2545"/>
                          </a:solidFill>
                          <a:latin typeface="Inter"/>
                          <a:ea typeface="Inter"/>
                          <a:cs typeface="Inter"/>
                        </a:rPr>
                        <a:t>Sump and dosing pumps</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DC motors</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53020">
                <a:tc>
                  <a:txBody>
                    <a:bodyPr/>
                    <a:p>
                      <a:pPr marL="0" indent="0">
                        <a:lnSpc>
                          <a:spcPts val="1680"/>
                        </a:lnSpc>
                        <a:buNone/>
                        <a:defRPr/>
                      </a:pPr>
                      <a:r>
                        <a:rPr lang="en-US" sz="1200">
                          <a:solidFill>
                            <a:srgbClr val="0B2545"/>
                          </a:solidFill>
                          <a:latin typeface="Inter"/>
                          <a:ea typeface="Inter"/>
                          <a:cs typeface="Inter"/>
                        </a:rPr>
                        <a:t>Flow meter</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Code counts the litres</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r h="353020">
                <a:tc>
                  <a:txBody>
                    <a:bodyPr/>
                    <a:p>
                      <a:pPr marL="0" indent="0">
                        <a:lnSpc>
                          <a:spcPts val="1680"/>
                        </a:lnSpc>
                        <a:buNone/>
                        <a:defRPr/>
                      </a:pPr>
                      <a:r>
                        <a:rPr lang="en-US" sz="1200">
                          <a:solidFill>
                            <a:srgbClr val="0B2545"/>
                          </a:solidFill>
                          <a:latin typeface="Inter"/>
                          <a:ea typeface="Inter"/>
                          <a:cs typeface="Inter"/>
                        </a:rPr>
                        <a:t>WiFi and 3D digital twin</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c>
                  <a:txBody>
                    <a:bodyPr/>
                    <a:p>
                      <a:pPr marL="0" indent="0">
                        <a:lnSpc>
                          <a:spcPts val="1680"/>
                        </a:lnSpc>
                        <a:buNone/>
                        <a:defRPr/>
                      </a:pPr>
                      <a:r>
                        <a:rPr lang="en-US" sz="1200">
                          <a:solidFill>
                            <a:srgbClr val="0B2545"/>
                          </a:solidFill>
                          <a:latin typeface="Inter"/>
                          <a:ea typeface="Inter"/>
                          <a:cs typeface="Inter"/>
                        </a:rPr>
                        <a:t>Serial Monitor</a:t>
                      </a:r>
                      <a:endParaRPr lang="en-US" sz="1200">
                        <a:latin typeface="Inter"/>
                        <a:ea typeface="Inter"/>
                        <a:cs typeface="Inter"/>
                      </a:endParaRPr>
                    </a:p>
                  </a:txBody>
                  <a:tcPr marL="101600" marR="101600" marT="63500" marB="63500" anchor="t">
                    <a:lnL w="12700" algn="ctr">
                      <a:solidFill>
                        <a:srgbClr val="C7CDD6"/>
                      </a:solidFill>
                    </a:lnL>
                    <a:lnR w="12700" algn="ctr">
                      <a:solidFill>
                        <a:srgbClr val="C7CDD6"/>
                      </a:solidFill>
                    </a:lnR>
                    <a:lnT w="12700" algn="ctr">
                      <a:solidFill>
                        <a:srgbClr val="C7CDD6"/>
                      </a:solidFill>
                    </a:lnT>
                    <a:lnB w="12700" algn="ctr">
                      <a:solidFill>
                        <a:srgbClr val="C7CDD6"/>
                      </a:solidFill>
                    </a:lnB>
                  </a:tcPr>
                </a:tc>
              </a:tr>
            </a:tbl>
          </a:graphicData>
        </a:graphic>
      </p:graphicFrame>
      <p:sp>
        <p:nvSpPr>
          <p:cNvPr id="162315815" name="Shape 21"/>
          <p:cNvSpPr/>
          <p:nvPr/>
        </p:nvSpPr>
        <p:spPr bwMode="auto">
          <a:xfrm>
            <a:off x="7216775" y="3083917"/>
            <a:ext cx="4159250" cy="1679972"/>
          </a:xfrm>
          <a:prstGeom prst="roundRect">
            <a:avLst>
              <a:gd name="adj" fmla="val 5859"/>
            </a:avLst>
          </a:prstGeom>
          <a:solidFill>
            <a:srgbClr val="F3F7FC"/>
          </a:solidFill>
          <a:ln w="6350">
            <a:solidFill>
              <a:srgbClr val="D6E2F0"/>
            </a:solidFill>
            <a:prstDash val="solid"/>
          </a:ln>
        </p:spPr>
      </p:sp>
      <p:sp>
        <p:nvSpPr>
          <p:cNvPr id="1125707642" name="Text 22"/>
          <p:cNvSpPr/>
          <p:nvPr/>
        </p:nvSpPr>
        <p:spPr bwMode="auto">
          <a:xfrm>
            <a:off x="7397750" y="3264892"/>
            <a:ext cx="3911219"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0B2545"/>
                </a:solidFill>
                <a:latin typeface="Montserrat"/>
                <a:ea typeface="Montserrat"/>
                <a:cs typeface="Montserrat"/>
              </a:rPr>
              <a:t>Built in safety</a:t>
            </a:r>
            <a:endParaRPr lang="en-US" sz="1500"/>
          </a:p>
        </p:txBody>
      </p:sp>
      <p:sp>
        <p:nvSpPr>
          <p:cNvPr id="1759733307" name="Text 23"/>
          <p:cNvSpPr/>
          <p:nvPr/>
        </p:nvSpPr>
        <p:spPr bwMode="auto">
          <a:xfrm>
            <a:off x="7397750" y="3582392"/>
            <a:ext cx="3911219" cy="231080"/>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33475E"/>
                </a:solidFill>
                <a:latin typeface="Inter"/>
                <a:ea typeface="Inter"/>
                <a:cs typeface="Inter"/>
              </a:rPr>
              <a:t>Tank full:</a:t>
            </a:r>
            <a:r>
              <a:rPr lang="en-US" sz="1200">
                <a:solidFill>
                  <a:srgbClr val="33475E"/>
                </a:solidFill>
                <a:latin typeface="Inter"/>
                <a:ea typeface="Inter"/>
                <a:cs typeface="Inter"/>
              </a:rPr>
              <a:t> the failed batch is held in the chamber.</a:t>
            </a:r>
            <a:endParaRPr lang="en-US" sz="1200"/>
          </a:p>
        </p:txBody>
      </p:sp>
      <p:sp>
        <p:nvSpPr>
          <p:cNvPr id="709290581" name="Text 24"/>
          <p:cNvSpPr/>
          <p:nvPr/>
        </p:nvSpPr>
        <p:spPr bwMode="auto">
          <a:xfrm>
            <a:off x="7397750" y="3876973"/>
            <a:ext cx="3911219" cy="436761"/>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33475E"/>
                </a:solidFill>
                <a:latin typeface="Inter"/>
                <a:ea typeface="Inter"/>
                <a:cs typeface="Inter"/>
              </a:rPr>
              <a:t>Neutraliser empty:</a:t>
            </a:r>
            <a:r>
              <a:rPr lang="en-US" sz="1200">
                <a:solidFill>
                  <a:srgbClr val="33475E"/>
                </a:solidFill>
                <a:latin typeface="Inter"/>
                <a:ea typeface="Inter"/>
                <a:cs typeface="Inter"/>
              </a:rPr>
              <a:t> dosing stops, V3 stays locked, alarm.</a:t>
            </a:r>
            <a:endParaRPr lang="en-US" sz="1200"/>
          </a:p>
        </p:txBody>
      </p:sp>
      <p:sp>
        <p:nvSpPr>
          <p:cNvPr id="462252362" name="Text 25"/>
          <p:cNvSpPr/>
          <p:nvPr/>
        </p:nvSpPr>
        <p:spPr bwMode="auto">
          <a:xfrm>
            <a:off x="7397750" y="4377234"/>
            <a:ext cx="3911219" cy="231080"/>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33475E"/>
                </a:solidFill>
                <a:latin typeface="Inter"/>
                <a:ea typeface="Inter"/>
                <a:cs typeface="Inter"/>
              </a:rPr>
              <a:t>Lights:</a:t>
            </a:r>
            <a:r>
              <a:rPr lang="en-US" sz="1200">
                <a:solidFill>
                  <a:srgbClr val="33475E"/>
                </a:solidFill>
                <a:latin typeface="Inter"/>
                <a:ea typeface="Inter"/>
                <a:cs typeface="Inter"/>
              </a:rPr>
              <a:t> green pass, red fail, yellow testing or empty.</a:t>
            </a:r>
            <a:endParaRPr lang="en-US" sz="1200"/>
          </a:p>
        </p:txBody>
      </p:sp>
      <p:sp>
        <p:nvSpPr>
          <p:cNvPr id="802848668" name="Text 26"/>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4B5D73"/>
                </a:solidFill>
                <a:latin typeface="Inter"/>
                <a:ea typeface="Inter"/>
                <a:cs typeface="Inter"/>
              </a:rPr>
              <a:t>zMz</a:t>
            </a:r>
            <a:r>
              <a:rPr lang="en-US" sz="1200">
                <a:solidFill>
                  <a:srgbClr val="4B5D73"/>
                </a:solidFill>
                <a:latin typeface="Inter"/>
                <a:ea typeface="Inter"/>
                <a:cs typeface="Inter"/>
              </a:rPr>
              <a:t> | Kusile WaterGuard</a:t>
            </a:r>
            <a:endParaRPr lang="en-US" sz="1200"/>
          </a:p>
        </p:txBody>
      </p:sp>
      <p:sp>
        <p:nvSpPr>
          <p:cNvPr id="797070429" name="Text 27"/>
          <p:cNvSpPr/>
          <p:nvPr/>
        </p:nvSpPr>
        <p:spPr bwMode="auto">
          <a:xfrm>
            <a:off x="4408488" y="6243340"/>
            <a:ext cx="4634966"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TDS = Total Dissolved Solids | Same logic, simulated hardware</a:t>
            </a:r>
            <a:endParaRPr lang="en-US" sz="1200"/>
          </a:p>
        </p:txBody>
      </p:sp>
      <p:sp>
        <p:nvSpPr>
          <p:cNvPr id="1377131121" name="Text 28"/>
          <p:cNvSpPr/>
          <p:nvPr/>
        </p:nvSpPr>
        <p:spPr bwMode="auto">
          <a:xfrm>
            <a:off x="11284645" y="6243340"/>
            <a:ext cx="145355"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6</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3F7FC"/>
        </a:solidFill>
      </p:bgPr>
    </p:bg>
    <p:spTree>
      <p:nvGrpSpPr>
        <p:cNvPr id="1" name=""/>
        <p:cNvGrpSpPr/>
        <p:nvPr/>
      </p:nvGrpSpPr>
      <p:grpSpPr bwMode="auto">
        <a:xfrm>
          <a:off x="0" y="0"/>
          <a:ext cx="0" cy="0"/>
          <a:chOff x="0" y="0"/>
          <a:chExt cx="0" cy="0"/>
        </a:xfrm>
      </p:grpSpPr>
      <p:sp>
        <p:nvSpPr>
          <p:cNvPr id="555211417" name="Text 0"/>
          <p:cNvSpPr/>
          <p:nvPr/>
        </p:nvSpPr>
        <p:spPr bwMode="auto">
          <a:xfrm>
            <a:off x="812800" y="812800"/>
            <a:ext cx="10883392" cy="416520"/>
          </a:xfrm>
          <a:prstGeom prst="rect">
            <a:avLst/>
          </a:prstGeom>
          <a:noFill/>
          <a:ln/>
        </p:spPr>
        <p:txBody>
          <a:bodyPr wrap="square" lIns="0" tIns="0" rIns="0" bIns="0" rtlCol="0" anchor="t">
            <a:normAutofit/>
          </a:bodyPr>
          <a:lstStyle/>
          <a:p>
            <a:pPr marL="0" indent="0" algn="l">
              <a:lnSpc>
                <a:spcPts val="3080"/>
              </a:lnSpc>
              <a:buNone/>
              <a:defRPr/>
            </a:pPr>
            <a:r>
              <a:rPr lang="en-US" sz="2800" b="1">
                <a:solidFill>
                  <a:srgbClr val="0B2545"/>
                </a:solidFill>
                <a:latin typeface="Montserrat"/>
                <a:ea typeface="Montserrat"/>
                <a:cs typeface="Montserrat"/>
              </a:rPr>
              <a:t>Commercialization: who pays and how we earn</a:t>
            </a:r>
            <a:endParaRPr lang="en-US" sz="2800"/>
          </a:p>
        </p:txBody>
      </p:sp>
      <p:sp>
        <p:nvSpPr>
          <p:cNvPr id="648394264" name="Shape 1"/>
          <p:cNvSpPr/>
          <p:nvPr/>
        </p:nvSpPr>
        <p:spPr bwMode="auto">
          <a:xfrm>
            <a:off x="812800" y="1381720"/>
            <a:ext cx="3412034" cy="1102320"/>
          </a:xfrm>
          <a:prstGeom prst="roundRect">
            <a:avLst>
              <a:gd name="adj" fmla="val 9217"/>
            </a:avLst>
          </a:prstGeom>
          <a:solidFill>
            <a:srgbClr val="1560BD"/>
          </a:solidFill>
          <a:ln/>
        </p:spPr>
      </p:sp>
      <p:sp>
        <p:nvSpPr>
          <p:cNvPr id="798981566" name="Text 2"/>
          <p:cNvSpPr/>
          <p:nvPr/>
        </p:nvSpPr>
        <p:spPr bwMode="auto">
          <a:xfrm>
            <a:off x="1016000" y="1534120"/>
            <a:ext cx="3095803" cy="558800"/>
          </a:xfrm>
          <a:prstGeom prst="rect">
            <a:avLst/>
          </a:prstGeom>
          <a:noFill/>
          <a:ln/>
        </p:spPr>
        <p:txBody>
          <a:bodyPr wrap="square" lIns="0" tIns="0" rIns="0" bIns="0" rtlCol="0" anchor="t">
            <a:normAutofit/>
          </a:bodyPr>
          <a:lstStyle/>
          <a:p>
            <a:pPr marL="0" indent="0" algn="l">
              <a:lnSpc>
                <a:spcPts val="4200"/>
              </a:lnSpc>
              <a:buNone/>
              <a:defRPr/>
            </a:pPr>
            <a:r>
              <a:rPr lang="en-US" sz="3000" b="1">
                <a:solidFill>
                  <a:srgbClr val="FCFDFF"/>
                </a:solidFill>
                <a:latin typeface="Montserrat"/>
                <a:ea typeface="Montserrat"/>
                <a:cs typeface="Montserrat"/>
              </a:rPr>
              <a:t>~R21 000</a:t>
            </a:r>
            <a:endParaRPr lang="en-US" sz="3000"/>
          </a:p>
        </p:txBody>
      </p:sp>
      <p:sp>
        <p:nvSpPr>
          <p:cNvPr id="288862978" name="Text 3"/>
          <p:cNvSpPr/>
          <p:nvPr/>
        </p:nvSpPr>
        <p:spPr bwMode="auto">
          <a:xfrm flipH="0" flipV="0">
            <a:off x="927685" y="2086569"/>
            <a:ext cx="3184116" cy="397470"/>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marL="0" indent="0" algn="l">
              <a:lnSpc>
                <a:spcPts val="1680"/>
              </a:lnSpc>
              <a:buNone/>
              <a:defRPr/>
            </a:pPr>
            <a:r>
              <a:rPr lang="en-US" sz="1200">
                <a:solidFill>
                  <a:srgbClr val="EAF2FB"/>
                </a:solidFill>
                <a:latin typeface="Inter"/>
                <a:ea typeface="Inter"/>
                <a:cs typeface="Inter"/>
              </a:rPr>
              <a:t>One node (ranges from about 8500 to 21000)</a:t>
            </a:r>
            <a:endParaRPr lang="en-US" sz="1200"/>
          </a:p>
        </p:txBody>
      </p:sp>
      <p:sp>
        <p:nvSpPr>
          <p:cNvPr id="1149405731" name="Shape 4"/>
          <p:cNvSpPr/>
          <p:nvPr/>
        </p:nvSpPr>
        <p:spPr bwMode="auto">
          <a:xfrm>
            <a:off x="4380409" y="1384895"/>
            <a:ext cx="3418483" cy="1095970"/>
          </a:xfrm>
          <a:prstGeom prst="roundRect">
            <a:avLst>
              <a:gd name="adj" fmla="val 8981"/>
            </a:avLst>
          </a:prstGeom>
          <a:solidFill>
            <a:srgbClr val="FCFDFF"/>
          </a:solidFill>
          <a:ln w="6350">
            <a:solidFill>
              <a:srgbClr val="D6E2F0"/>
            </a:solidFill>
            <a:prstDash val="solid"/>
          </a:ln>
        </p:spPr>
      </p:sp>
      <p:sp>
        <p:nvSpPr>
          <p:cNvPr id="1702466408" name="Text 5"/>
          <p:cNvSpPr/>
          <p:nvPr/>
        </p:nvSpPr>
        <p:spPr bwMode="auto">
          <a:xfrm>
            <a:off x="4586784" y="1540470"/>
            <a:ext cx="3095904" cy="558800"/>
          </a:xfrm>
          <a:prstGeom prst="rect">
            <a:avLst/>
          </a:prstGeom>
          <a:noFill/>
          <a:ln/>
        </p:spPr>
        <p:txBody>
          <a:bodyPr wrap="square" lIns="0" tIns="0" rIns="0" bIns="0" rtlCol="0" anchor="t">
            <a:normAutofit/>
          </a:bodyPr>
          <a:lstStyle/>
          <a:p>
            <a:pPr marL="0" indent="0" algn="l">
              <a:lnSpc>
                <a:spcPts val="4200"/>
              </a:lnSpc>
              <a:buNone/>
              <a:defRPr/>
            </a:pPr>
            <a:r>
              <a:rPr lang="en-US" sz="3000" b="1">
                <a:solidFill>
                  <a:srgbClr val="0B2545"/>
                </a:solidFill>
                <a:latin typeface="Montserrat"/>
                <a:ea typeface="Montserrat"/>
                <a:cs typeface="Montserrat"/>
              </a:rPr>
              <a:t>~R300 million</a:t>
            </a:r>
            <a:endParaRPr lang="en-US" sz="3000"/>
          </a:p>
        </p:txBody>
      </p:sp>
      <p:sp>
        <p:nvSpPr>
          <p:cNvPr id="57219832" name="Text 6"/>
          <p:cNvSpPr/>
          <p:nvPr/>
        </p:nvSpPr>
        <p:spPr bwMode="auto">
          <a:xfrm>
            <a:off x="4586784" y="2111970"/>
            <a:ext cx="3095904"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eMalahleni's original 25 ML/day plant</a:t>
            </a:r>
            <a:endParaRPr lang="en-US" sz="1200"/>
          </a:p>
        </p:txBody>
      </p:sp>
      <p:sp>
        <p:nvSpPr>
          <p:cNvPr id="639283644" name="Shape 7"/>
          <p:cNvSpPr/>
          <p:nvPr/>
        </p:nvSpPr>
        <p:spPr bwMode="auto">
          <a:xfrm>
            <a:off x="7957641" y="1384895"/>
            <a:ext cx="3418384" cy="1095970"/>
          </a:xfrm>
          <a:prstGeom prst="roundRect">
            <a:avLst>
              <a:gd name="adj" fmla="val 8981"/>
            </a:avLst>
          </a:prstGeom>
          <a:solidFill>
            <a:srgbClr val="FCFDFF"/>
          </a:solidFill>
          <a:ln w="6350">
            <a:solidFill>
              <a:srgbClr val="D6E2F0"/>
            </a:solidFill>
            <a:prstDash val="solid"/>
          </a:ln>
        </p:spPr>
      </p:sp>
      <p:sp>
        <p:nvSpPr>
          <p:cNvPr id="692473785" name="Text 8"/>
          <p:cNvSpPr/>
          <p:nvPr/>
        </p:nvSpPr>
        <p:spPr bwMode="auto">
          <a:xfrm>
            <a:off x="8164016" y="1540470"/>
            <a:ext cx="3095803" cy="558800"/>
          </a:xfrm>
          <a:prstGeom prst="rect">
            <a:avLst/>
          </a:prstGeom>
          <a:noFill/>
          <a:ln/>
        </p:spPr>
        <p:txBody>
          <a:bodyPr wrap="square" lIns="0" tIns="0" rIns="0" bIns="0" rtlCol="0" anchor="t">
            <a:normAutofit/>
          </a:bodyPr>
          <a:lstStyle/>
          <a:p>
            <a:pPr marL="0" indent="0" algn="l">
              <a:lnSpc>
                <a:spcPts val="4200"/>
              </a:lnSpc>
              <a:buNone/>
              <a:defRPr/>
            </a:pPr>
            <a:r>
              <a:rPr lang="en-US" sz="3000" b="1">
                <a:solidFill>
                  <a:srgbClr val="B03022"/>
                </a:solidFill>
                <a:latin typeface="Montserrat"/>
                <a:ea typeface="Montserrat"/>
                <a:cs typeface="Montserrat"/>
              </a:rPr>
              <a:t>~R1 billion</a:t>
            </a:r>
            <a:endParaRPr lang="en-US" sz="3000"/>
          </a:p>
        </p:txBody>
      </p:sp>
      <p:sp>
        <p:nvSpPr>
          <p:cNvPr id="512089799" name="Text 9"/>
          <p:cNvSpPr/>
          <p:nvPr/>
        </p:nvSpPr>
        <p:spPr bwMode="auto">
          <a:xfrm>
            <a:off x="8164016" y="2111970"/>
            <a:ext cx="3095803"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Kromdraai response bill</a:t>
            </a:r>
            <a:endParaRPr lang="en-US" sz="1200"/>
          </a:p>
        </p:txBody>
      </p:sp>
      <p:sp>
        <p:nvSpPr>
          <p:cNvPr id="1769143342" name="Text 10"/>
          <p:cNvSpPr/>
          <p:nvPr/>
        </p:nvSpPr>
        <p:spPr bwMode="auto">
          <a:xfrm>
            <a:off x="812800" y="2661841"/>
            <a:ext cx="6278880"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1560BD"/>
                </a:solidFill>
                <a:latin typeface="Montserrat"/>
                <a:ea typeface="Montserrat"/>
                <a:cs typeface="Montserrat"/>
              </a:rPr>
              <a:t>Who pays</a:t>
            </a:r>
            <a:endParaRPr lang="en-US" sz="1500"/>
          </a:p>
        </p:txBody>
      </p:sp>
      <p:graphicFrame>
        <p:nvGraphicFramePr>
          <p:cNvPr id="1165276971" name="Table 0"/>
          <p:cNvGraphicFramePr>
            <a:graphicFrameLocks xmlns:a="http://schemas.openxmlformats.org/drawingml/2006/main" noGrp="1"/>
          </p:cNvGraphicFramePr>
          <p:nvPr/>
        </p:nvGraphicFramePr>
        <p:xfrm rot="0">
          <a:off x="812800" y="2966641"/>
          <a:ext cx="6096000" cy="1412081"/>
        </p:xfrm>
        <a:graphic>
          <a:graphicData uri="http://schemas.openxmlformats.org/drawingml/2006/table">
            <a:tbl>
              <a:tblPr firstRow="0" firstCol="0" lastRow="0" lastCol="0" bandRow="0" bandCol="0"/>
              <a:tblGrid>
                <a:gridCol w="3048000"/>
                <a:gridCol w="3048000"/>
              </a:tblGrid>
              <a:tr h="353020">
                <a:tc>
                  <a:txBody>
                    <a:bodyPr/>
                    <a:p>
                      <a:pPr marL="0" indent="0">
                        <a:lnSpc>
                          <a:spcPts val="1680"/>
                        </a:lnSpc>
                        <a:buNone/>
                        <a:defRPr/>
                      </a:pPr>
                      <a:r>
                        <a:rPr lang="en-US" sz="1200">
                          <a:solidFill>
                            <a:srgbClr val="0B2545"/>
                          </a:solidFill>
                          <a:latin typeface="Inter"/>
                          <a:ea typeface="Inter"/>
                          <a:cs typeface="Inter"/>
                        </a:rPr>
                        <a:t>Operating coal mines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Prove releases meet licence limits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353020">
                <a:tc>
                  <a:txBody>
                    <a:bodyPr/>
                    <a:p>
                      <a:pPr marL="0" indent="0">
                        <a:lnSpc>
                          <a:spcPts val="1680"/>
                        </a:lnSpc>
                        <a:buNone/>
                        <a:defRPr/>
                      </a:pPr>
                      <a:r>
                        <a:rPr lang="en-US" sz="1200">
                          <a:solidFill>
                            <a:srgbClr val="0B2545"/>
                          </a:solidFill>
                          <a:latin typeface="Inter"/>
                          <a:ea typeface="Inter"/>
                          <a:cs typeface="Inter"/>
                        </a:rPr>
                        <a:t>Owners of closed mines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Responsibility continues after closure</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353020">
                <a:tc>
                  <a:txBody>
                    <a:bodyPr/>
                    <a:p>
                      <a:pPr marL="0" indent="0">
                        <a:lnSpc>
                          <a:spcPts val="1680"/>
                        </a:lnSpc>
                        <a:buNone/>
                        <a:defRPr/>
                      </a:pPr>
                      <a:r>
                        <a:rPr lang="en-US" sz="1200">
                          <a:solidFill>
                            <a:srgbClr val="0B2545"/>
                          </a:solidFill>
                          <a:latin typeface="Inter"/>
                          <a:ea typeface="Inter"/>
                          <a:cs typeface="Inter"/>
                        </a:rPr>
                        <a:t>Water treatment operators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Add nodes at plant outlets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r h="353020">
                <a:tc>
                  <a:txBody>
                    <a:bodyPr/>
                    <a:p>
                      <a:pPr marL="0" indent="0">
                        <a:lnSpc>
                          <a:spcPts val="1680"/>
                        </a:lnSpc>
                        <a:buNone/>
                        <a:defRPr/>
                      </a:pPr>
                      <a:r>
                        <a:rPr lang="en-US" sz="1200">
                          <a:solidFill>
                            <a:srgbClr val="0B2545"/>
                          </a:solidFill>
                          <a:latin typeface="Inter"/>
                          <a:ea typeface="Inter"/>
                          <a:cs typeface="Inter"/>
                        </a:rPr>
                        <a:t>Municipalities, water boards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c>
                  <a:txBody>
                    <a:bodyPr/>
                    <a:p>
                      <a:pPr marL="0" indent="0">
                        <a:lnSpc>
                          <a:spcPts val="1680"/>
                        </a:lnSpc>
                        <a:buNone/>
                        <a:defRPr/>
                      </a:pPr>
                      <a:r>
                        <a:rPr lang="en-US" sz="1200">
                          <a:solidFill>
                            <a:srgbClr val="0B2545"/>
                          </a:solidFill>
                          <a:latin typeface="Inter"/>
                          <a:ea typeface="Inter"/>
                          <a:cs typeface="Inter"/>
                        </a:rPr>
                        <a:t>Early warning at water intakes</a:t>
                      </a:r>
                      <a:endParaRPr lang="en-US" sz="1200">
                        <a:latin typeface="Inter"/>
                        <a:ea typeface="Inter"/>
                        <a:cs typeface="Inter"/>
                      </a:endParaRPr>
                    </a:p>
                  </a:txBody>
                  <a:tcPr marL="101600" marR="101600" marT="63500" marB="63500" anchor="t">
                    <a:lnL w="12700" algn="ctr">
                      <a:solidFill>
                        <a:srgbClr val="C0C9D4"/>
                      </a:solidFill>
                    </a:lnL>
                    <a:lnR w="12700" algn="ctr">
                      <a:solidFill>
                        <a:srgbClr val="C0C9D4"/>
                      </a:solidFill>
                    </a:lnR>
                    <a:lnT w="12700" algn="ctr">
                      <a:solidFill>
                        <a:srgbClr val="C0C9D4"/>
                      </a:solidFill>
                    </a:lnT>
                    <a:lnB w="12700" algn="ctr">
                      <a:solidFill>
                        <a:srgbClr val="C0C9D4"/>
                      </a:solidFill>
                    </a:lnB>
                  </a:tcPr>
                </a:tc>
              </a:tr>
            </a:tbl>
          </a:graphicData>
        </a:graphic>
      </p:graphicFrame>
      <p:sp>
        <p:nvSpPr>
          <p:cNvPr id="1586195315" name="Text 11"/>
          <p:cNvSpPr/>
          <p:nvPr/>
        </p:nvSpPr>
        <p:spPr bwMode="auto">
          <a:xfrm>
            <a:off x="812800" y="4467622"/>
            <a:ext cx="6278880"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4B5D73"/>
                </a:solidFill>
                <a:latin typeface="Inter"/>
                <a:ea typeface="Inter"/>
                <a:cs typeface="Inter"/>
              </a:rPr>
              <a:t>Legal driver:</a:t>
            </a:r>
            <a:r>
              <a:rPr lang="en-US" sz="1200">
                <a:solidFill>
                  <a:srgbClr val="4B5D73"/>
                </a:solidFill>
                <a:latin typeface="Inter"/>
                <a:ea typeface="Inter"/>
                <a:cs typeface="Inter"/>
              </a:rPr>
              <a:t> GN 704 regulations require mines to keep polluted water out of rivers.</a:t>
            </a:r>
            <a:endParaRPr lang="en-US" sz="1200"/>
          </a:p>
        </p:txBody>
      </p:sp>
      <p:sp>
        <p:nvSpPr>
          <p:cNvPr id="258957442" name="Shape 12"/>
          <p:cNvSpPr/>
          <p:nvPr/>
        </p:nvSpPr>
        <p:spPr bwMode="auto">
          <a:xfrm>
            <a:off x="7162800" y="2661841"/>
            <a:ext cx="4216400" cy="1635522"/>
          </a:xfrm>
          <a:prstGeom prst="roundRect">
            <a:avLst>
              <a:gd name="adj" fmla="val 6212"/>
            </a:avLst>
          </a:prstGeom>
          <a:solidFill>
            <a:srgbClr val="0B2545"/>
          </a:solidFill>
          <a:ln/>
        </p:spPr>
      </p:sp>
      <p:sp>
        <p:nvSpPr>
          <p:cNvPr id="1201280942" name="Text 13"/>
          <p:cNvSpPr/>
          <p:nvPr/>
        </p:nvSpPr>
        <p:spPr bwMode="auto">
          <a:xfrm>
            <a:off x="7340600" y="2839641"/>
            <a:ext cx="3976624" cy="254000"/>
          </a:xfrm>
          <a:prstGeom prst="rect">
            <a:avLst/>
          </a:prstGeom>
          <a:noFill/>
          <a:ln/>
        </p:spPr>
        <p:txBody>
          <a:bodyPr wrap="square" lIns="0" tIns="0" rIns="0" bIns="0" rtlCol="0" anchor="t">
            <a:normAutofit/>
          </a:bodyPr>
          <a:lstStyle/>
          <a:p>
            <a:pPr marL="0" indent="0" algn="l">
              <a:lnSpc>
                <a:spcPts val="1800"/>
              </a:lnSpc>
              <a:buNone/>
              <a:defRPr/>
            </a:pPr>
            <a:r>
              <a:rPr lang="en-US" sz="1500" b="1">
                <a:solidFill>
                  <a:srgbClr val="9CC8F2"/>
                </a:solidFill>
                <a:latin typeface="Montserrat"/>
                <a:ea typeface="Montserrat"/>
                <a:cs typeface="Montserrat"/>
              </a:rPr>
              <a:t>Kusile WaterGuard as a Service</a:t>
            </a:r>
            <a:endParaRPr lang="en-US" sz="1500"/>
          </a:p>
        </p:txBody>
      </p:sp>
      <p:sp>
        <p:nvSpPr>
          <p:cNvPr id="1229328712" name="Text 14"/>
          <p:cNvSpPr/>
          <p:nvPr/>
        </p:nvSpPr>
        <p:spPr bwMode="auto">
          <a:xfrm>
            <a:off x="7340600" y="3144441"/>
            <a:ext cx="3976624" cy="231080"/>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FCFDFF"/>
                </a:solidFill>
                <a:latin typeface="Inter"/>
                <a:ea typeface="Inter"/>
                <a:cs typeface="Inter"/>
              </a:rPr>
              <a:t>Once off:</a:t>
            </a:r>
            <a:r>
              <a:rPr lang="en-US" sz="1200">
                <a:solidFill>
                  <a:srgbClr val="FCFDFF"/>
                </a:solidFill>
                <a:latin typeface="Inter"/>
                <a:ea typeface="Inter"/>
                <a:cs typeface="Inter"/>
              </a:rPr>
              <a:t> hardware and installation</a:t>
            </a:r>
            <a:endParaRPr lang="en-US" sz="1200"/>
          </a:p>
        </p:txBody>
      </p:sp>
      <p:sp>
        <p:nvSpPr>
          <p:cNvPr id="1804975674" name="Text 15"/>
          <p:cNvSpPr/>
          <p:nvPr/>
        </p:nvSpPr>
        <p:spPr bwMode="auto">
          <a:xfrm>
            <a:off x="7340600" y="3426321"/>
            <a:ext cx="3976624" cy="231080"/>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FCFDFF"/>
                </a:solidFill>
                <a:latin typeface="Inter"/>
                <a:ea typeface="Inter"/>
                <a:cs typeface="Inter"/>
              </a:rPr>
              <a:t>Monthly:</a:t>
            </a:r>
            <a:r>
              <a:rPr lang="en-US" sz="1200">
                <a:solidFill>
                  <a:srgbClr val="FCFDFF"/>
                </a:solidFill>
                <a:latin typeface="Inter"/>
                <a:ea typeface="Inter"/>
                <a:cs typeface="Inter"/>
              </a:rPr>
              <a:t> monitoring subscription and dashboard</a:t>
            </a:r>
            <a:endParaRPr lang="en-US" sz="1200"/>
          </a:p>
        </p:txBody>
      </p:sp>
      <p:sp>
        <p:nvSpPr>
          <p:cNvPr id="1317081628" name="Text 16"/>
          <p:cNvSpPr/>
          <p:nvPr/>
        </p:nvSpPr>
        <p:spPr bwMode="auto">
          <a:xfrm>
            <a:off x="7340600" y="3708202"/>
            <a:ext cx="3976624" cy="436761"/>
          </a:xfrm>
          <a:prstGeom prst="rect">
            <a:avLst/>
          </a:prstGeom>
          <a:noFill/>
          <a:ln/>
        </p:spPr>
        <p:txBody>
          <a:bodyPr wrap="square" lIns="0" tIns="0" rIns="0" bIns="0" rtlCol="0" anchor="t">
            <a:normAutofit/>
          </a:bodyPr>
          <a:lstStyle/>
          <a:p>
            <a:pPr marL="0" indent="0" algn="l">
              <a:lnSpc>
                <a:spcPts val="1620"/>
              </a:lnSpc>
              <a:buNone/>
              <a:defRPr/>
            </a:pPr>
            <a:r>
              <a:rPr lang="en-US" sz="1200" b="1">
                <a:solidFill>
                  <a:srgbClr val="FCFDFF"/>
                </a:solidFill>
                <a:latin typeface="Inter"/>
                <a:ea typeface="Inter"/>
                <a:cs typeface="Inter"/>
              </a:rPr>
              <a:t>Ongoing:</a:t>
            </a:r>
            <a:r>
              <a:rPr lang="en-US" sz="1200">
                <a:solidFill>
                  <a:srgbClr val="FCFDFF"/>
                </a:solidFill>
                <a:latin typeface="Inter"/>
                <a:ea typeface="Inter"/>
                <a:cs typeface="Inter"/>
              </a:rPr>
              <a:t> maintenance, calibration, sensors, neutraliser and compliance reports</a:t>
            </a:r>
            <a:endParaRPr lang="en-US" sz="1200"/>
          </a:p>
        </p:txBody>
      </p:sp>
      <p:sp>
        <p:nvSpPr>
          <p:cNvPr id="1377586778" name="Shape 17"/>
          <p:cNvSpPr/>
          <p:nvPr/>
        </p:nvSpPr>
        <p:spPr bwMode="auto">
          <a:xfrm>
            <a:off x="815975" y="4861917"/>
            <a:ext cx="10560050" cy="422870"/>
          </a:xfrm>
          <a:prstGeom prst="roundRect">
            <a:avLst>
              <a:gd name="adj" fmla="val 23275"/>
            </a:avLst>
          </a:prstGeom>
          <a:solidFill>
            <a:srgbClr val="FCFDFF"/>
          </a:solidFill>
          <a:ln w="6350">
            <a:solidFill>
              <a:srgbClr val="D6E2F0"/>
            </a:solidFill>
            <a:prstDash val="solid"/>
          </a:ln>
        </p:spPr>
      </p:sp>
      <p:sp>
        <p:nvSpPr>
          <p:cNvPr id="72866458" name="Text 18"/>
          <p:cNvSpPr/>
          <p:nvPr/>
        </p:nvSpPr>
        <p:spPr bwMode="auto">
          <a:xfrm>
            <a:off x="971550" y="4966692"/>
            <a:ext cx="1256506"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1560BD"/>
                </a:solidFill>
                <a:latin typeface="Inter"/>
                <a:ea typeface="Inter"/>
                <a:cs typeface="Inter"/>
              </a:rPr>
              <a:t>Prototype (now)</a:t>
            </a:r>
            <a:endParaRPr lang="en-US" sz="1200"/>
          </a:p>
        </p:txBody>
      </p:sp>
      <p:sp>
        <p:nvSpPr>
          <p:cNvPr id="464657666" name="Text 19"/>
          <p:cNvSpPr/>
          <p:nvPr/>
        </p:nvSpPr>
        <p:spPr bwMode="auto">
          <a:xfrm>
            <a:off x="2253456" y="4966692"/>
            <a:ext cx="2032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a:t>
            </a:r>
            <a:endParaRPr lang="en-US" sz="1200"/>
          </a:p>
        </p:txBody>
      </p:sp>
      <p:sp>
        <p:nvSpPr>
          <p:cNvPr id="1409006598" name="Text 20"/>
          <p:cNvSpPr/>
          <p:nvPr/>
        </p:nvSpPr>
        <p:spPr bwMode="auto">
          <a:xfrm>
            <a:off x="2482056" y="4966692"/>
            <a:ext cx="1177826"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0B2545"/>
                </a:solidFill>
                <a:latin typeface="Inter"/>
                <a:ea typeface="Inter"/>
                <a:cs typeface="Inter"/>
              </a:rPr>
              <a:t>Controlled pilot</a:t>
            </a:r>
            <a:endParaRPr lang="en-US" sz="1200"/>
          </a:p>
        </p:txBody>
      </p:sp>
      <p:sp>
        <p:nvSpPr>
          <p:cNvPr id="1048411219" name="Text 21"/>
          <p:cNvSpPr/>
          <p:nvPr/>
        </p:nvSpPr>
        <p:spPr bwMode="auto">
          <a:xfrm>
            <a:off x="3685281" y="4966692"/>
            <a:ext cx="2032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a:t>
            </a:r>
            <a:endParaRPr lang="en-US" sz="1200"/>
          </a:p>
        </p:txBody>
      </p:sp>
      <p:sp>
        <p:nvSpPr>
          <p:cNvPr id="146906647" name="Text 22"/>
          <p:cNvSpPr/>
          <p:nvPr/>
        </p:nvSpPr>
        <p:spPr bwMode="auto">
          <a:xfrm>
            <a:off x="3913882" y="4966692"/>
            <a:ext cx="1643658"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0B2545"/>
                </a:solidFill>
                <a:latin typeface="Inter"/>
                <a:ea typeface="Inter"/>
                <a:cs typeface="Inter"/>
              </a:rPr>
              <a:t>Field pilot with a mine</a:t>
            </a:r>
            <a:endParaRPr lang="en-US" sz="1200"/>
          </a:p>
        </p:txBody>
      </p:sp>
      <p:sp>
        <p:nvSpPr>
          <p:cNvPr id="1317132571" name="Text 23"/>
          <p:cNvSpPr/>
          <p:nvPr/>
        </p:nvSpPr>
        <p:spPr bwMode="auto">
          <a:xfrm>
            <a:off x="5582940" y="4966692"/>
            <a:ext cx="2032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a:t>
            </a:r>
            <a:endParaRPr lang="en-US" sz="1200"/>
          </a:p>
        </p:txBody>
      </p:sp>
      <p:sp>
        <p:nvSpPr>
          <p:cNvPr id="188794810" name="Text 24"/>
          <p:cNvSpPr/>
          <p:nvPr/>
        </p:nvSpPr>
        <p:spPr bwMode="auto">
          <a:xfrm>
            <a:off x="5811540" y="4966692"/>
            <a:ext cx="1548209"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0B2545"/>
                </a:solidFill>
                <a:latin typeface="Inter"/>
                <a:ea typeface="Inter"/>
                <a:cs typeface="Inter"/>
              </a:rPr>
              <a:t>Commercial product</a:t>
            </a:r>
            <a:endParaRPr lang="en-US" sz="1200"/>
          </a:p>
        </p:txBody>
      </p:sp>
      <p:sp>
        <p:nvSpPr>
          <p:cNvPr id="374064440" name="Text 25"/>
          <p:cNvSpPr/>
          <p:nvPr/>
        </p:nvSpPr>
        <p:spPr bwMode="auto">
          <a:xfrm>
            <a:off x="7385149" y="4966692"/>
            <a:ext cx="2032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a:t>
            </a:r>
            <a:endParaRPr lang="en-US" sz="1200"/>
          </a:p>
        </p:txBody>
      </p:sp>
      <p:sp>
        <p:nvSpPr>
          <p:cNvPr id="2141218534" name="Text 26"/>
          <p:cNvSpPr/>
          <p:nvPr/>
        </p:nvSpPr>
        <p:spPr bwMode="auto">
          <a:xfrm>
            <a:off x="7613749" y="4966692"/>
            <a:ext cx="2159898" cy="238720"/>
          </a:xfrm>
          <a:prstGeom prst="rect">
            <a:avLst/>
          </a:prstGeom>
          <a:noFill/>
          <a:ln/>
        </p:spPr>
        <p:txBody>
          <a:bodyPr wrap="square" lIns="0" tIns="0" rIns="0" bIns="0" rtlCol="0" anchor="t">
            <a:normAutofit/>
          </a:bodyPr>
          <a:lstStyle/>
          <a:p>
            <a:pPr marL="0" indent="0" algn="l">
              <a:lnSpc>
                <a:spcPts val="1680"/>
              </a:lnSpc>
              <a:buNone/>
              <a:defRPr/>
            </a:pPr>
            <a:r>
              <a:rPr lang="en-US" sz="1200" b="1">
                <a:solidFill>
                  <a:srgbClr val="0B2545"/>
                </a:solidFill>
                <a:latin typeface="Inter"/>
                <a:ea typeface="Inter"/>
                <a:cs typeface="Inter"/>
              </a:rPr>
              <a:t>Node network across a mine</a:t>
            </a:r>
            <a:endParaRPr lang="en-US" sz="1200"/>
          </a:p>
        </p:txBody>
      </p:sp>
      <p:sp>
        <p:nvSpPr>
          <p:cNvPr id="1348890599" name="Text 27"/>
          <p:cNvSpPr/>
          <p:nvPr/>
        </p:nvSpPr>
        <p:spPr bwMode="auto">
          <a:xfrm>
            <a:off x="812800" y="6243340"/>
            <a:ext cx="1270198" cy="238720"/>
          </a:xfrm>
          <a:prstGeom prst="rect">
            <a:avLst/>
          </a:prstGeom>
          <a:noFill/>
          <a:ln/>
        </p:spPr>
        <p:txBody>
          <a:bodyPr vertOverflow="overflow" horzOverflow="overflow" vert="horz" wrap="square" lIns="0" tIns="0" rIns="0" bIns="0" numCol="1" spcCol="0" rtlCol="0" fromWordArt="0" anchor="t" anchorCtr="0" forceAA="0" upright="0" compatLnSpc="0">
            <a:normAutofit fontScale="75000" lnSpcReduction="5000"/>
          </a:bodyPr>
          <a:lstStyle/>
          <a:p>
            <a:pPr marL="0" indent="0" algn="l">
              <a:lnSpc>
                <a:spcPts val="1680"/>
              </a:lnSpc>
              <a:buNone/>
              <a:defRPr/>
            </a:pPr>
            <a:r>
              <a:rPr lang="en-US" sz="1200" b="1">
                <a:solidFill>
                  <a:srgbClr val="4B5D73"/>
                </a:solidFill>
                <a:latin typeface="Inter"/>
                <a:ea typeface="Inter"/>
                <a:cs typeface="Inter"/>
              </a:rPr>
              <a:t>zMz</a:t>
            </a:r>
            <a:r>
              <a:rPr lang="en-US" sz="1200">
                <a:solidFill>
                  <a:srgbClr val="4B5D73"/>
                </a:solidFill>
                <a:latin typeface="Inter"/>
                <a:ea typeface="Inter"/>
                <a:cs typeface="Inter"/>
              </a:rPr>
              <a:t> | Kusile WaterGuard</a:t>
            </a:r>
            <a:endParaRPr lang="en-US" sz="1200"/>
          </a:p>
        </p:txBody>
      </p:sp>
      <p:sp>
        <p:nvSpPr>
          <p:cNvPr id="4393763" name="Text 28"/>
          <p:cNvSpPr/>
          <p:nvPr/>
        </p:nvSpPr>
        <p:spPr bwMode="auto">
          <a:xfrm>
            <a:off x="4486374" y="6243340"/>
            <a:ext cx="44829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A small gate at every dam outlet costs far less than one spill.</a:t>
            </a:r>
            <a:endParaRPr lang="en-US" sz="1200"/>
          </a:p>
        </p:txBody>
      </p:sp>
      <p:sp>
        <p:nvSpPr>
          <p:cNvPr id="425415236" name="Text 29"/>
          <p:cNvSpPr/>
          <p:nvPr/>
        </p:nvSpPr>
        <p:spPr bwMode="auto">
          <a:xfrm>
            <a:off x="11292880" y="6243340"/>
            <a:ext cx="13712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4B5D73"/>
                </a:solidFill>
                <a:latin typeface="Inter"/>
                <a:ea typeface="Inter"/>
                <a:cs typeface="Inter"/>
              </a:rPr>
              <a:t>7</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AcidShield: Problem to Commercialisation</dc:title>
  <dc:subject>PptxGenJS Presentation</dc:subject>
  <dc:creator>PptxGenJS</dc:creator>
  <cp:lastModifiedBy/>
  <cp:revision>2</cp:revision>
  <dcterms:created xsi:type="dcterms:W3CDTF">2026-09-17T16:03:49Z</dcterms:created>
  <dcterms:modified xsi:type="dcterms:W3CDTF">2026-09-17T17:25:24Z</dcterms:modified>
</cp:coreProperties>
</file>